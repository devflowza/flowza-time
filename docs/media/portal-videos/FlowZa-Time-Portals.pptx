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B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17320" y="6583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FlowZa Time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5"/>
                </a:solidFill>
              </a:rPr>
              <a:t>FlowZa Time · portals, time away and meeting rooms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4-1.mp4"/><Relationship Id="rId2" Type="http://schemas.microsoft.com/office/2007/relationships/media" Target="../media/media-4-1.mp4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-1.mp4"/><Relationship Id="rId2" Type="http://schemas.microsoft.com/office/2007/relationships/media" Target="../media/media-6-1.mp4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video" Target="../media/media-8-1.mp4"/><Relationship Id="rId2" Type="http://schemas.microsoft.com/office/2007/relationships/media" Target="../media/media-8-1.mp4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2-1.mp4"/><Relationship Id="rId2" Type="http://schemas.microsoft.com/office/2007/relationships/media" Target="../media/media-12-1.mp4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Portals, time away and meeting rooms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D3CA"/>
                </a:solidFill>
              </a:rPr>
              <a:t>Five narrated walkthroughs of the running product — employee, manager, HR, admin, and what happens between check-in and check-out — with the plan in detail and its status.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D39E"/>
                </a:solidFill>
              </a:rPr>
              <a:t>Demo organisation: Al Bahja Trading (Oman) · recorded 15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</a:rPr>
              <a:t>One short video per audience, each followed by the plan in detail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7FBF9"/>
          </a:solidFill>
          <a:ln w="12700">
            <a:solidFill>
              <a:srgbClr val="D7E7E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0136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7465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25"/>
                </a:solidFill>
              </a:rPr>
              <a:t>Employee portal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27685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</a:rPr>
              <a:t>Attendance, bar graph, step out, leave, swap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97680" y="16002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7FBF9"/>
          </a:solidFill>
          <a:ln w="12700">
            <a:solidFill>
              <a:srgbClr val="D7E7E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80136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10912" y="17465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25"/>
                </a:solidFill>
              </a:rPr>
              <a:t>Manager portal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498848" y="227685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</a:rPr>
              <a:t>Team today, approvals, hierarchy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46720" y="16002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7FBF9"/>
          </a:solidFill>
          <a:ln w="12700">
            <a:solidFill>
              <a:srgbClr val="D7E7E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180136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59952" y="17465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25"/>
                </a:solidFill>
              </a:rPr>
              <a:t>HR portal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47888" y="227685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</a:rPr>
              <a:t>Organisation, holidays, leave, reports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4290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7FBF9"/>
          </a:solidFill>
          <a:ln w="12700">
            <a:solidFill>
              <a:srgbClr val="D7E7E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63016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61872" y="35753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25"/>
                </a:solidFill>
              </a:rPr>
              <a:t>Admin console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49808" y="410565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</a:rPr>
              <a:t>Settings, roles, terminals, audit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297680" y="34290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7FBF9"/>
          </a:solidFill>
          <a:ln w="12700">
            <a:solidFill>
              <a:srgbClr val="D7E7E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3630168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10912" y="35753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25"/>
                </a:solidFill>
              </a:rPr>
              <a:t>Between check-in and check-out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498848" y="410565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</a:rPr>
              <a:t>Time away, terminals, meeting rooms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046720" y="34290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7FBF9"/>
          </a:solidFill>
          <a:ln w="12700">
            <a:solidFill>
              <a:srgbClr val="D7E7E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3630168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759952" y="35753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25"/>
                </a:solidFill>
              </a:rPr>
              <a:t>Plan, status and rollout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247888" y="410565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</a:rPr>
              <a:t>What is delivered, what is next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built and is live in the product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</a:rPr>
              <a:t>Everything in the videos is the real application on real data — no mock-ups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7FBF9"/>
          </a:solidFill>
          <a:ln w="12700">
            <a:solidFill>
              <a:srgbClr val="D7E7E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5564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7007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25"/>
                </a:solidFill>
              </a:rPr>
              <a:t>Time away during working hours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23113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</a:rPr>
              <a:t>Engine 1.5.0 classifies every gap between the first IN and the last OUT: official duty, permission, break, unapproved.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97680" y="15544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7FBF9"/>
          </a:solidFill>
          <a:ln w="12700">
            <a:solidFill>
              <a:srgbClr val="D7E7E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75564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10912" y="17007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25"/>
                </a:solidFill>
              </a:rPr>
              <a:t>Step out / I’m back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498848" y="223113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</a:rPr>
              <a:t>For sites with an entry terminal only: the portal records the step-out, the terminal (or “I’m back”) the return.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46720" y="15544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7FBF9"/>
          </a:solidFill>
          <a:ln w="12700">
            <a:solidFill>
              <a:srgbClr val="D7E7E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175564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59952" y="17007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25"/>
                </a:solidFill>
              </a:rPr>
              <a:t>Terminal punch roles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247888" y="223113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</a:rPr>
              <a:t>Entry-only, exit-only, two-way IN/OUT, and ACCESS readers that never touch attendance.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4290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7FBF9"/>
          </a:solidFill>
          <a:ln w="12700">
            <a:solidFill>
              <a:srgbClr val="D7E7E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63016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61872" y="35753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25"/>
                </a:solidFill>
              </a:rPr>
              <a:t>Meeting rooms &amp; access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49808" y="410565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</a:rPr>
              <a:t>Rooms on the location tree, meetings with invitees, attendance from readers, unauthorised entries.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297680" y="34290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7FBF9"/>
          </a:solidFill>
          <a:ln w="12700">
            <a:solidFill>
              <a:srgbClr val="D7E7E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3630168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10912" y="35753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25"/>
                </a:solidFill>
              </a:rPr>
              <a:t>Managers of managers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498848" y="410565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</a:rPr>
              <a:t>Team scope “whole hierarchy”: up to five levels, enforced in the database (RLS) and the API alike.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046720" y="342900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F7FBF9"/>
          </a:solidFill>
          <a:ln w="12700">
            <a:solidFill>
              <a:srgbClr val="D7E7E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3630168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759952" y="35753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25"/>
                </a:solidFill>
              </a:rPr>
              <a:t>Reports and approvals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247888" y="410565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6"/>
                </a:solidFill>
              </a:rPr>
              <a:t>HR time-away report, the activity bar graph, TIME_AWAY approvals, and the managers’ daily morning roll call.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portal — video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</a:rPr>
              <a:t>Ahmed, Technician · Quality Assurance · Office 08:00–14:00</a:t>
            </a:r>
            <a:endParaRPr lang="en-US" sz="15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463040"/>
            <a:ext cx="73152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5"/>
                </a:solidFill>
              </a:rPr>
              <a:t>▶ 2:25 · narrated, captions burned in · FlowZa-Time-1-Employee-Portal.mp4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1838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83880" y="1874520"/>
            <a:ext cx="352044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My overview: today’s shift, check-in on the entrance terminal, the month at a glance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My attendance: month calendar, open a day for punches and the calculation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Activity bar graph: on site vs time away (official, permission, unapproved)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Step out (official / personal, expected return) and I’m back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Plan time away; the monthly permission allowance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Leave balances and Apply for leave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Shift swap request with a colleague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83880" y="5577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6"/>
                </a:solidFill>
              </a:rPr>
              <a:t>Audience: every employee · web and phone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portal — plan in detail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</a:rPr>
              <a:t>What the employee can do, how it works, and the rule behind it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5120640"/>
                <a:gridCol w="356616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Rule / control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See attendance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Calendar, daily log, statistics; open a day for punches and the calculation trace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Own records only (RLS self predicate)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Bar graph (in site / out site)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Activity tab: per day on site, official duty, permission, break, unapproved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Engine figures, same as payroll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Step out / I’m back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Break-out punch now + a request for the expected window; return on the terminal or “I’m back”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Policy: step-out allowed, return by terminal only or also portal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Plan time away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Official duty or personal permission, a window on one day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Personal: 4 h a month, 2 h at a time; no overlaps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Apply for leave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Type, dates, half day; balance shown before sending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Allowance, notice and approval workflow per type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Shift swap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Pick a day and an eligible colleague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Line manager approves; both schedules change that day only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portal — video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</a:rPr>
              <a:t>Nasser, IT &amp; QA team lead — and Hamed, Head of Technology, above him</a:t>
            </a:r>
            <a:endParaRPr lang="en-US" sz="15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463040"/>
            <a:ext cx="73152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5"/>
                </a:solidFill>
              </a:rPr>
              <a:t>▶ 2:02 · narrated, captions burned in · FlowZa-Time-2-Manager-Portal.mp4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1838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83880" y="1874520"/>
            <a:ext cx="352044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Team › Today: who checked in, late, absent, on leave, in now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Morning roll call: yesterday’s Daily Report every working morning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Approvals inbox: time away, leave and shift swaps in one place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Time-away context: window, kind, destination, monthly allowance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Approve → the day is recalculated immediately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Team › Attendance: the month grid for the whole team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Managers of managers: indirect reports “via” their manager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83880" y="5577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6"/>
                </a:solidFill>
              </a:rPr>
              <a:t>Audience: line managers, heads of department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portal — plan in detail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</a:rPr>
              <a:t>The daily roll call, one inbox, and the reporting hierarchy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206240"/>
        </p:xfrm>
        <a:graphic>
          <a:graphicData uri="http://schemas.openxmlformats.org/drawingml/2006/table">
            <a:tbl>
              <a:tblPr/>
              <a:tblGrid>
                <a:gridCol w="2651760"/>
                <a:gridCol w="3108960"/>
                <a:gridCol w="530352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Need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Where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How it works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Who logged in, who is absent — daily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Team › Today (refreshes every minute) and Dashboard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Live from punches and the engine: present, late, absent, on leave, missing punch, in now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Approve time away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Approvals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Line manager (secondary stands in) or an HR workflow up to 5 levels; approval recalculates the day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Approve leave and shift swaps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Approvals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Balance shown; one by one, in bulk, or from the e-mail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The month for the team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Team › Attendance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Month grid per report; open any day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Managers of managers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Settings › Attendance › Manager team scope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“Whole reporting hierarchy”: depth 5, enforced by RLS and the API alike; indirect reports labelled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Who logged in, who is absent — every morning by e-mail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Reports › Schedules (HR sets it up)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“Morning roll call”: the Daily Report every working morning (Sun–Thu 07:30) for yesterday — each manager receives their own team only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portal — video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</a:rPr>
              <a:t>Fatma, HR Manager — the whole organisation</a:t>
            </a:r>
            <a:endParaRPr lang="en-US" sz="15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463040"/>
            <a:ext cx="73152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5"/>
                </a:solidFill>
              </a:rPr>
              <a:t>▶ 1:56 · narrated, captions burned in · FlowZa-Time-3-HR.mp4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1838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83880" y="1874520"/>
            <a:ext cx="352044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Dashboard: today across branches, trend, late, on leave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Attendance › Daily by department; open a day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Time away report: month totals per person, flagged days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Schedules the managers’ morning roll call (daily, Sun–Thu)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Organisation: branches, departments, org chart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Holidays: add and remove; days are recalculated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Leave records and balances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Meeting attendance from the room readers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83880" y="5577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6"/>
                </a:solidFill>
              </a:rPr>
              <a:t>Audience: HR and attendance administrators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portal — plan in detail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</a:rPr>
              <a:t>Overall view, departments, holidays, leave and time away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572000"/>
        </p:xfrm>
        <a:graphic>
          <a:graphicData uri="http://schemas.openxmlformats.org/drawingml/2006/table">
            <a:tbl>
              <a:tblPr/>
              <a:tblGrid>
                <a:gridCol w="2194560"/>
                <a:gridCol w="5120640"/>
                <a:gridCol w="374904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HR does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Overview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Dashboard by branch; Overview / Operations / Executive layouts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One look at the day and the trend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Departments &amp; hierarchy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Organisation › departments (parent, manager); org chart with drag-and-drop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Reporting lines drive approvals and the team scope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Holidays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Calendars per branch; add, edit, remove holidays (half days, company days)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Affected days recalculated; never counted absent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Leave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Types, allowances, accrual, approvals, team calendar, balances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Leave days never marked absent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Time away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Monthly report per person; policy per group / department / shift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Unapproved time deducted and flagged; official duty paid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Meetings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Rooms, meetings, attendance, access log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Who attended, late, absent, unauthorised walk-ins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Morning roll call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Reports › Schedules: the Daily Report, daily Sun–Thu 07:30, to the managers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Each manager receives their own team; a Sunday run covers Thu–Sat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console — video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</a:rPr>
              <a:t>Khalid, General Manager — owner of the account</a:t>
            </a:r>
            <a:endParaRPr lang="en-US" sz="15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463040"/>
            <a:ext cx="73152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5"/>
                </a:solidFill>
              </a:rPr>
              <a:t>▶ 1:22 · narrated, captions burned in · FlowZa-Time-4-Admin.mp4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1838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83880" y="1874520"/>
            <a:ext cx="352044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Settings: regional, attendance, self-service, notifications, security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Manager team scope: direct reports or the whole hierarchy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Users &amp; roles: permissions, branch scope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Devices: entry-only, exit-only, IN/OUT and meeting-room readers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Register a terminal with its punch role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Locations: branches › floors › rooms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Audit log of every change and request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83880" y="5577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6"/>
                </a:solidFill>
              </a:rPr>
              <a:t>Audience: owners, administrators, IT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console — plan in detail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</a:rPr>
              <a:t>Configuration that the other three portals depend on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297680"/>
        </p:xfrm>
        <a:graphic>
          <a:graphicData uri="http://schemas.openxmlformats.org/drawingml/2006/table">
            <a:tbl>
              <a:tblPr/>
              <a:tblGrid>
                <a:gridCol w="2468880"/>
                <a:gridCol w="3108960"/>
                <a:gridCol w="5486400"/>
              </a:tblGrid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Setting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Where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Recommended for this rollout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Attendance policy with time away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Attendance › Policies (or Shifts › Rules)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Directional punches; official counts as worked; permission 240 min/month, 120 at a time; flag after 15 min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Self-service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Settings › Attendance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Web and mobile check-in on; step-out from the portal on; return by terminal or portal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Terminal punch roles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Devices › device › Settings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Entrance = entry only; exit gate = exit only; lobby = IN/OUT; rooms = ACCESS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Meeting rooms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Organisation › Locations, then Meetings › Rooms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Room = a place with its reader; restrict boardrooms to departments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Manager team scope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Settings › Attendance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“Whole reporting hierarchy” for heads of department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Roles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Users &amp; roles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meeting.view / .manage / .rooms as needed; managers who receive the roll call need report.export (e.g. a “Line manager” role = Manager + report.export)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check-in and check-out — video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</a:rPr>
              <a:t>The main concern: time away from the site during working hours</a:t>
            </a:r>
            <a:endParaRPr lang="en-US" sz="15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463040"/>
            <a:ext cx="73152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95"/>
                </a:solidFill>
              </a:rPr>
              <a:t>▶ 1:49 · narrated, captions burned in · FlowZa-Time-5-Between-Check-In-And-Out.mp4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1838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83880" y="1874520"/>
            <a:ext cx="352044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Two site layouts: two-way terminals, or entry terminal + portal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Terminal roles; room readers never split the day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The policy: official, permission quota, unapproved flag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Classification of every gap, shown in the day’s calculation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The bar graph for employee and manager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Meeting attendance and unauthorised entries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HR month totals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83880" y="5577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6"/>
                </a:solidFill>
              </a:rPr>
              <a:t>Audience: everyone — the rules in two minutes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every gap between check-in and check-out is classified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</a:rPr>
              <a:t>Example: office 08:00–14:00 — IN 08:00, OUT 10:00, IN 12:05, OUT 14:00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10896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2651760"/>
                <a:gridCol w="347472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Kind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When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Pay / status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Example result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Official duty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Inside an approved OFFICIAL window (+10 min grace)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Worked (configurable)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Approved 10:00–12:00 → 125 min official; worked 6 h; PRESENT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Permission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Inside an approved PERSONAL window (+ grace)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Unpaid, excused; 4 h a month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Approved 10:00–12:00 → 2 h permission; worked 4 h; not short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Break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The rest, up to the shift’s break allowance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As the shift’s break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30-min lunch allowance used first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Unapproved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Whatever is left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Deducted; UNAPPROVED_AWAY after 15 min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No approval → 125 min unapproved; worked 3 h 55; flagged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Short gap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Under 5 minutes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Worked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3-minute step outside the reader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</a:rPr>
              <a:t>Two layouts, same answer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Two-way terminals: OUT when leaving, IN when returning (IN/OUT keys, or exit + entry gates)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Entry terminal only: Step out in the portal; the return is the next check-in, or “I’m back” if the policy allows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3332E"/>
                </a:solidFill>
              </a:rPr>
              <a:t>Requires paired or directional punch interpretation (first/last ignores the middle — refused by the API)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comparable products do — and what FlowZa took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</a:rPr>
              <a:t>Researched practice for attendance terminals and GCC HR suites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02336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02336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Product family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Mechanism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Taken over in FlowZa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ZKTeco (push / BioTime), Hikvision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Punch states: check-in/out, break-out/in, OT-in/out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Break-out / break-in punches; portal step-out writes a break-out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Matrix COSEC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“Official work” and “Short leave” in/out functions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Two kinds: OFFICIAL (worked) and PERSONAL (limited)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GCC HR suites (Bayzat, Jisr, ZenHR, Menaitech)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Permission (استئذان) requests in hours, manager approval, monthly quota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Time-away requests via approvals; quota and longest window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greytHR, Keka, Zoho People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“On duty” requests for work outside the office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Official duty counts as worked time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Suprema, Hikvision, Gallagher access control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Door readers by zone; attendance from designated readers only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Terminal punch roles; ACCESS readers → room entries, meeting attendance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rooms and access control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</a:rPr>
              <a:t>If the meeting rooms have readers: how many attended, when, and who should not have entered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600" dirty="0">
                <a:solidFill>
                  <a:srgbClr val="23332E"/>
                </a:solidFill>
              </a:rPr>
              <a:t>A meeting room is a place in the location tree (HQ › Floor 3 › Boardroom) with a capacity; its readers are ACCESS terminals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600" dirty="0">
                <a:solidFill>
                  <a:srgbClr val="23332E"/>
                </a:solidFill>
              </a:rPr>
              <a:t>Book a meeting: room, time, invitees (required / optional); one meeting per room at a time; capacity checked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600" dirty="0">
                <a:solidFill>
                  <a:srgbClr val="23332E"/>
                </a:solidFill>
              </a:rPr>
              <a:t>Attendance from the room entries: on time, late (minutes after the start), absent; repeat entries counted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600" dirty="0">
                <a:solidFill>
                  <a:srgbClr val="23332E"/>
                </a:solidFill>
              </a:rPr>
              <a:t>Restricted rooms: allowed departments / employees; anyone else entering — or an unknown card — is reported as unauthorised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600" dirty="0">
                <a:solidFill>
                  <a:srgbClr val="23332E"/>
                </a:solidFill>
              </a:rPr>
              <a:t>Room entries never touch attendance: a meeting never splits the working day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600" dirty="0">
                <a:solidFill>
                  <a:srgbClr val="23332E"/>
                </a:solidFill>
              </a:rPr>
              <a:t>Access log for the room administrators (permission meeting.rooms); employees see their own invitations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600" dirty="0">
                <a:solidFill>
                  <a:srgbClr val="23332E"/>
                </a:solidFill>
              </a:rPr>
              <a:t>Next: pushing access groups to the controllers (vendor-specific), so the door itself enforces the restriction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and status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</a:rPr>
              <a:t>Delivered in this change, and the next steps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663440"/>
        </p:xfrm>
        <a:graphic>
          <a:graphicData uri="http://schemas.openxmlformats.org/drawingml/2006/table">
            <a:tbl>
              <a:tblPr/>
              <a:tblGrid>
                <a:gridCol w="6035040"/>
                <a:gridCol w="1280160"/>
                <a:gridCol w="374904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Work item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Engine 1.5.0: time-away classification; nothing changes with the policy off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Delivered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18 new engine tests; all 446 existing pass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Policy section “time away” (core, every plan); FIRST_LAST refused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Delivered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API tests; policy editor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Requests, step-out / I’m back, approvals (TIME_AWAY), HR list &amp; monthly summary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Delivered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11 API tests; real-data run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Terminal punch roles; ACCESS readers → access_events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Delivered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Worker tests (normaliser, end-to-end day)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Meeting rooms, meetings, attendance, access log (Enterprise module)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Delivered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6 API tests + domain tests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Manager team scope: whole hierarchy (RLS + API)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Delivered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API + SQL RLS suites, cross-tenant probes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Daily scheduled roll call to managers (daily cadence, previous day, team-scoped)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Delivered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Domain, contract and web tests; real run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Push room access groups to controllers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Next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Per vendor (ZKTeco, Hikvision, Suprema)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Payroll export columns for permission / unapproved minutes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Next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32E"/>
                          </a:solidFill>
                        </a:rPr>
                        <a:t>Figures already on every daily record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for a customer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6"/>
                </a:solidFill>
              </a:rPr>
              <a:t>Six steps, about two weeks including a pilot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840480"/>
        </p:xfrm>
        <a:graphic>
          <a:graphicData uri="http://schemas.openxmlformats.org/drawingml/2006/table">
            <a:tbl>
              <a:tblPr/>
              <a:tblGrid>
                <a:gridCol w="548640"/>
                <a:gridCol w="6675120"/>
                <a:gridCol w="2011680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When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Mark each terminal: entry only, exit only, IN/OUT, or meeting-room reader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IT / admin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Day 1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Create the time-away policy for the pilot group (directional punches, quotas, flags)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HR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Day 1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Set reporting lines; choose the manager team scope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HR / admin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Day 2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Places and meeting rooms; restrict boardrooms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Facilities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Day 2–3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Pilot one department for a week; review the time-away report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HR + managers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Week 1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Train with these videos; roll out to all departments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HR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332E"/>
                          </a:solidFill>
                        </a:rPr>
                        <a:t>Week 2</a:t>
                      </a:r>
                      <a:endParaRPr lang="en-US" sz="115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19088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A9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Every minute between check-in and check-out, accounted for.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9D3CA"/>
                </a:solidFill>
              </a:rPr>
              <a:t>FlowZa Time — people on time, business on track.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FlowZa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FlowZa Time — portals, time away and meeting rooms</dc:title>
  <dc:subject>Video walkthroughs per audience and the delivery plan</dc:subject>
  <dc:creator>FlowZa</dc:creator>
  <cp:lastModifiedBy>FlowZa</cp:lastModifiedBy>
  <cp:revision>1</cp:revision>
  <dcterms:created xsi:type="dcterms:W3CDTF">2026-10-15T11:34:20Z</dcterms:created>
  <dcterms:modified xsi:type="dcterms:W3CDTF">2026-10-15T11:34:20Z</dcterms:modified>
</cp:coreProperties>
</file>