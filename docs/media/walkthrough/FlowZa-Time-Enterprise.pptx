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b32699f-66c7-d0b7-5772-bf003a34dd0f}">
          <p14:sldIdLst>
            <p14:sldId id="256"/>
          </p14:sldIdLst>
        </p14:section>
        <p14:section name="Set up" id="{c533bde0-f79c-d161-0d20-fd7eb2bd2221}">
          <p14:sldIdLst>
            <p14:sldId id="257"/>
          </p14:sldIdLst>
        </p14:section>
        <p14:section name="Workforce changes" id="{e89a576f-c1de-4c4d-e966-9582b0bf690b}">
          <p14:sldIdLst>
            <p14:sldId id="258"/>
          </p14:sldIdLst>
        </p14:section>
        <p14:section name="Leave &amp; approvals" id="{a69c02d4-b0f3-fed1-2c77-70dcacfc18fc}">
          <p14:sldIdLst>
            <p14:sldId id="259"/>
          </p14:sldIdLst>
        </p14:section>
        <p14:section name="Dashboard" id="{e6354ed5-6872-9ae0-d30b-edbe2ee28494}">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FlowZa Time Enterprise: cloud attendance for multi-branch organisations across Oman and the GCC. This overview walks from the first device to the live dashboard. Learn more at flowza.com.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your devices: register the terminal, pick the provider, and give it a code, a name, a branch and its timezone. Push terminals get their own URL and token and come online with their first heartbeat; cloud and server connections can be tested right away. Next, your sites: each branch has a code, a city, a timezone, weekly off days and a holiday calendar; the branch timezone decides the attendance date. Then add your people, or import them from CSV, define fixed or flexible shifts, and assign them. The most specific assignment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change a shift, assign the new one with an effective-from date, and an end date if it is temporary. Change many employees at once, or let employees request a change; past days are recalculated automatically. When Salim, from Muscat, covers Sohar for two weeks, a branch deployment adds Salim to the Sohar terminals with ID, name and card on day one, and removes the record after the last day; a fingerprint is enrolled once on site. Salim’s shift, holidays and payroll stay with Muscat. Shift swaps: the employee picks a day and a colleague, the line manager approves, and both schedules change for that day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is built in: annual, sick, emergency or maternity leave, with yearly days, monthly accrual and carry forward. Employees apply from their portal and see their balance first; approved leave appears on the team calendar, and days on leave are never marked absent. Every request goes to the right person: each employee can have a line manager, and a secondary manager as backup. Leave, corrections, regularisations, shift changes and swaps land in one Approvals inbox; approvers approve, reject or ask for information, one by one, in bulk or from an e-mail. HR can add approval workflows of up to five levels, with escalation when nobody acts in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configure and monitor. Settings cover regional options, attendance rules, sync, notifications and security, while roles decide who sees which branch. Pick one of seven dashboard styles and a layout: Overview, Operations or Executive. The dashboard shows each day at a glance: who was present, absent, on leave or late, then the attendance trend, attendance by branch, recent activity and the approvals waiting for you, with reports in PDF, Excel or CSV. See it for yourself at flowza.com.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240280"/>
            <a:ext cx="1051560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429000"/>
            <a:ext cx="9601200" cy="822960"/>
          </a:xfrm>
          <a:prstGeom prst="rect">
            <a:avLst/>
          </a:prstGeom>
          <a:noFill/>
          <a:ln/>
        </p:spPr>
        <p:txBody>
          <a:bodyPr wrap="square" rtlCol="0"/>
          <a:lstStyle>
            <a:lvl1pPr algn="l" indent="0" marL="0">
              <a:buNone/>
              <a:defRPr lang="en-US" sz="2200" dirty="0">
                <a:solidFill>
                  <a:srgbClr val="B9D3CA"/>
                </a:solidFill>
              </a:defRPr>
            </a:lvl1pPr>
          </a:lstStyle>
          <a:p>
            <a:pPr algn="l" indent="0" marL="0">
              <a:buNone/>
            </a:pPr>
            <a:endParaRPr lang="en-US" sz="2200" dirty="0"/>
          </a:p>
        </p:txBody>
      </p:sp>
      <p:sp>
        <p:nvSpPr>
          <p:cNvPr id="4" name="Text 0"/>
          <p:cNvSpPr/>
          <p:nvPr/>
        </p:nvSpPr>
        <p:spPr>
          <a:xfrm>
            <a:off x="731520" y="6172200"/>
            <a:ext cx="3657600" cy="320040"/>
          </a:xfrm>
          <a:prstGeom prst="rect">
            <a:avLst/>
          </a:prstGeom>
          <a:noFill/>
          <a:ln/>
        </p:spPr>
        <p:txBody>
          <a:bodyPr wrap="square" lIns="0" tIns="0" rIns="0" bIns="0" rtlCol="0" anchor="ctr"/>
          <a:lstStyle/>
          <a:p>
            <a:pPr indent="0" marL="0">
              <a:buNone/>
            </a:pPr>
            <a:r>
              <a:rPr lang="en-US" sz="1400" b="1" dirty="0">
                <a:solidFill>
                  <a:schemeClr val="accent3"/>
                </a:solidFill>
              </a:rPr>
              <a:t>flowza.com</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355080"/>
            <a:ext cx="4572000" cy="274320"/>
          </a:xfrm>
          <a:prstGeom prst="rect">
            <a:avLst/>
          </a:prstGeom>
          <a:noFill/>
          <a:ln/>
        </p:spPr>
        <p:txBody>
          <a:bodyPr wrap="square" lIns="0" tIns="0" rIns="0" bIns="0" rtlCol="0" anchor="ctr"/>
          <a:lstStyle/>
          <a:p>
            <a:pPr indent="0" marL="0">
              <a:buNone/>
            </a:pPr>
            <a:r>
              <a:rPr lang="en-US" sz="1100" dirty="0">
                <a:solidFill>
                  <a:srgbClr val="667085"/>
                </a:solidFill>
              </a:rPr>
              <a:t>FlowZa Time Enterprise</a:t>
            </a:r>
            <a:endParaRPr lang="en-US" sz="1100" dirty="0"/>
          </a:p>
        </p:txBody>
      </p:sp>
      <p:sp>
        <p:nvSpPr>
          <p:cNvPr id="4" name="Text 1"/>
          <p:cNvSpPr/>
          <p:nvPr/>
        </p:nvSpPr>
        <p:spPr>
          <a:xfrm>
            <a:off x="8412480" y="6355080"/>
            <a:ext cx="2743200" cy="274320"/>
          </a:xfrm>
          <a:prstGeom prst="rect">
            <a:avLst/>
          </a:prstGeom>
          <a:noFill/>
          <a:ln/>
        </p:spPr>
        <p:txBody>
          <a:bodyPr wrap="square" lIns="0" tIns="0" rIns="0" bIns="0" rtlCol="0" anchor="ctr"/>
          <a:lstStyle/>
          <a:p>
            <a:pPr algn="r" indent="0" marL="0">
              <a:buNone/>
            </a:pPr>
            <a:r>
              <a:rPr lang="en-US" sz="1100" b="1" dirty="0">
                <a:solidFill>
                  <a:schemeClr val="accent1"/>
                </a:solidFill>
              </a:rPr>
              <a:t>flowza.com</a:t>
            </a:r>
            <a:endParaRPr lang="en-US" sz="1100" dirty="0"/>
          </a:p>
        </p:txBody>
      </p:sp>
      <p:sp>
        <p:nvSpPr>
          <p:cNvPr id="25" name="Slide Number Placeholder 0"/>
          <p:cNvSpPr>
            <a:spLocks noGrp="1"/>
          </p:cNvSpPr>
          <p:nvPr>
            <p:ph type="sldNum" sz="quarter" idx="4294967295"/>
          </p:nvPr>
        </p:nvSpPr>
        <p:spPr>
          <a:xfrm>
            <a:off x="11292840" y="6355080"/>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6708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8412480" y="6355080"/>
            <a:ext cx="3200400" cy="274320"/>
          </a:xfrm>
          <a:prstGeom prst="rect">
            <a:avLst/>
          </a:prstGeom>
          <a:noFill/>
          <a:ln/>
        </p:spPr>
        <p:txBody>
          <a:bodyPr wrap="square" lIns="0" tIns="0" rIns="0" bIns="0" rtlCol="0" anchor="ctr"/>
          <a:lstStyle/>
          <a:p>
            <a:pPr algn="r" indent="0" marL="0">
              <a:buNone/>
            </a:pPr>
            <a:r>
              <a:rPr lang="en-US" sz="1100" b="1" dirty="0">
                <a:solidFill>
                  <a:schemeClr val="accent3"/>
                </a:solidFill>
              </a:rPr>
              <a:t>flowza.com</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55080"/>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670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2.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FlowZa logo" descr="preencoded.png">    </p:cNvPr>
          <p:cNvPicPr>
            <a:picLocks noChangeAspect="1"/>
          </p:cNvPicPr>
          <p:nvPr/>
        </p:nvPicPr>
        <p:blipFill>
          <a:blip r:embed="rId1"/>
          <a:stretch>
            <a:fillRect/>
          </a:stretch>
        </p:blipFill>
        <p:spPr>
          <a:xfrm>
            <a:off x="731520" y="777240"/>
            <a:ext cx="1051560" cy="1051560"/>
          </a:xfrm>
          <a:prstGeom prst="rect">
            <a:avLst/>
          </a:prstGeom>
        </p:spPr>
      </p:pic>
      <p:sp>
        <p:nvSpPr>
          <p:cNvPr id="3" name="Text 0"/>
          <p:cNvSpPr/>
          <p:nvPr>
            <p:ph idx="100" type="title" hasCustomPrompt="1"/>
          </p:nvPr>
        </p:nvSpPr>
        <p:spPr>
          <a:xfrm>
            <a:off x="731520" y="2240280"/>
            <a:ext cx="10515600" cy="1097280"/>
          </a:xfrm>
          <a:prstGeom prst="rect">
            <a:avLst/>
          </a:prstGeom>
          <a:noFill/>
          <a:ln/>
        </p:spPr>
        <p:txBody>
          <a:bodyPr wrap="square" lIns="0" tIns="0" rIns="0" bIns="0" rtlCol="0" anchor="b"/>
          <a:lstStyle/>
          <a:p>
            <a:pPr algn="l" indent="0" marL="0">
              <a:buNone/>
            </a:pPr>
            <a:r>
              <a:rPr lang="en-US" sz="4800" b="1" dirty="0">
                <a:solidFill>
                  <a:schemeClr val="bg1"/>
                </a:solidFill>
              </a:rPr>
              <a:t>FlowZa Time Enterprise</a:t>
            </a:r>
            <a:endParaRPr lang="en-US" sz="4800" dirty="0"/>
          </a:p>
        </p:txBody>
      </p:sp>
      <p:sp>
        <p:nvSpPr>
          <p:cNvPr id="4" name="Text 0"/>
          <p:cNvSpPr/>
          <p:nvPr>
            <p:ph idx="101" type="body" hasCustomPrompt="1"/>
          </p:nvPr>
        </p:nvSpPr>
        <p:spPr>
          <a:xfrm>
            <a:off x="731520" y="3429000"/>
            <a:ext cx="9601200" cy="822960"/>
          </a:xfrm>
          <a:prstGeom prst="rect">
            <a:avLst/>
          </a:prstGeom>
          <a:noFill/>
          <a:ln/>
        </p:spPr>
        <p:txBody>
          <a:bodyPr wrap="square" lIns="0" tIns="0" rIns="0" bIns="0" rtlCol="0" anchor="t"/>
          <a:lstStyle/>
          <a:p>
            <a:pPr algn="l" indent="0" marL="0">
              <a:buNone/>
            </a:pPr>
            <a:r>
              <a:rPr lang="en-US" sz="2200" dirty="0">
                <a:solidFill>
                  <a:srgbClr val="B9D3CA"/>
                </a:solidFill>
              </a:rPr>
              <a:t>Cloud attendance and workforce time management for multi-branch organisations across Oman and the GCC</a:t>
            </a:r>
            <a:endParaRPr lang="en-US" sz="2200" dirty="0"/>
          </a:p>
        </p:txBody>
      </p:sp>
      <p:sp>
        <p:nvSpPr>
          <p:cNvPr id="5" name="Topic 1 tile"/>
          <p:cNvSpPr/>
          <p:nvPr/>
        </p:nvSpPr>
        <p:spPr>
          <a:xfrm>
            <a:off x="731520" y="4709160"/>
            <a:ext cx="566928" cy="566928"/>
          </a:xfrm>
          <a:prstGeom prst="roundRect">
            <a:avLst>
              <a:gd name="adj" fmla="val 19355"/>
            </a:avLst>
          </a:prstGeom>
          <a:solidFill>
            <a:srgbClr val="17453A"/>
          </a:solidFill>
          <a:ln w="12700">
            <a:solidFill>
              <a:srgbClr val="17453A"/>
            </a:solidFill>
            <a:prstDash val="solid"/>
          </a:ln>
        </p:spPr>
      </p:sp>
      <p:pic>
        <p:nvPicPr>
          <p:cNvPr id="6" name="Topic 1 icon" descr="preencoded.png">    </p:cNvPr>
          <p:cNvPicPr>
            <a:picLocks noChangeAspect="1"/>
          </p:cNvPicPr>
          <p:nvPr/>
        </p:nvPicPr>
        <p:blipFill>
          <a:blip r:embed="rId2"/>
          <a:stretch>
            <a:fillRect/>
          </a:stretch>
        </p:blipFill>
        <p:spPr>
          <a:xfrm>
            <a:off x="868680" y="4846320"/>
            <a:ext cx="292608" cy="292608"/>
          </a:xfrm>
          <a:prstGeom prst="rect">
            <a:avLst/>
          </a:prstGeom>
        </p:spPr>
      </p:pic>
      <p:sp>
        <p:nvSpPr>
          <p:cNvPr id="7" name="Topic 1 label"/>
          <p:cNvSpPr txBox="1"/>
          <p:nvPr/>
        </p:nvSpPr>
        <p:spPr>
          <a:xfrm>
            <a:off x="685800" y="5349240"/>
            <a:ext cx="1143000" cy="457200"/>
          </a:xfrm>
          <a:prstGeom prst="rect">
            <a:avLst/>
          </a:prstGeom>
          <a:noFill/>
          <a:ln/>
        </p:spPr>
        <p:txBody>
          <a:bodyPr wrap="square" lIns="0" tIns="0" rIns="0" bIns="0" rtlCol="0" anchor="t"/>
          <a:lstStyle/>
          <a:p>
            <a:pPr indent="0" marL="0">
              <a:buNone/>
            </a:pPr>
            <a:r>
              <a:rPr lang="en-US" sz="1200" dirty="0">
                <a:solidFill>
                  <a:srgbClr val="D7E5E0"/>
                </a:solidFill>
              </a:rPr>
              <a:t>Devices</a:t>
            </a:r>
            <a:endParaRPr lang="en-US" sz="1200" dirty="0"/>
          </a:p>
        </p:txBody>
      </p:sp>
      <p:sp>
        <p:nvSpPr>
          <p:cNvPr id="8" name="Topic 2 tile"/>
          <p:cNvSpPr/>
          <p:nvPr/>
        </p:nvSpPr>
        <p:spPr>
          <a:xfrm>
            <a:off x="1938528" y="4709160"/>
            <a:ext cx="566928" cy="566928"/>
          </a:xfrm>
          <a:prstGeom prst="roundRect">
            <a:avLst>
              <a:gd name="adj" fmla="val 19355"/>
            </a:avLst>
          </a:prstGeom>
          <a:solidFill>
            <a:srgbClr val="17453A"/>
          </a:solidFill>
          <a:ln w="12700">
            <a:solidFill>
              <a:srgbClr val="17453A"/>
            </a:solidFill>
            <a:prstDash val="solid"/>
          </a:ln>
        </p:spPr>
      </p:sp>
      <p:pic>
        <p:nvPicPr>
          <p:cNvPr id="9" name="Topic 2 icon" descr="preencoded.png">    </p:cNvPr>
          <p:cNvPicPr>
            <a:picLocks noChangeAspect="1"/>
          </p:cNvPicPr>
          <p:nvPr/>
        </p:nvPicPr>
        <p:blipFill>
          <a:blip r:embed="rId3"/>
          <a:stretch>
            <a:fillRect/>
          </a:stretch>
        </p:blipFill>
        <p:spPr>
          <a:xfrm>
            <a:off x="2075688" y="4846320"/>
            <a:ext cx="292608" cy="292608"/>
          </a:xfrm>
          <a:prstGeom prst="rect">
            <a:avLst/>
          </a:prstGeom>
        </p:spPr>
      </p:pic>
      <p:sp>
        <p:nvSpPr>
          <p:cNvPr id="10" name="Topic 2 label"/>
          <p:cNvSpPr txBox="1"/>
          <p:nvPr/>
        </p:nvSpPr>
        <p:spPr>
          <a:xfrm>
            <a:off x="1892808" y="5349240"/>
            <a:ext cx="1143000" cy="457200"/>
          </a:xfrm>
          <a:prstGeom prst="rect">
            <a:avLst/>
          </a:prstGeom>
          <a:noFill/>
          <a:ln/>
        </p:spPr>
        <p:txBody>
          <a:bodyPr wrap="square" lIns="0" tIns="0" rIns="0" bIns="0" rtlCol="0" anchor="t"/>
          <a:lstStyle/>
          <a:p>
            <a:pPr indent="0" marL="0">
              <a:buNone/>
            </a:pPr>
            <a:r>
              <a:rPr lang="en-US" sz="1200" dirty="0">
                <a:solidFill>
                  <a:srgbClr val="D7E5E0"/>
                </a:solidFill>
              </a:rPr>
              <a:t>Branches</a:t>
            </a:r>
            <a:endParaRPr lang="en-US" sz="1200" dirty="0"/>
          </a:p>
        </p:txBody>
      </p:sp>
      <p:sp>
        <p:nvSpPr>
          <p:cNvPr id="11" name="Topic 3 tile"/>
          <p:cNvSpPr/>
          <p:nvPr/>
        </p:nvSpPr>
        <p:spPr>
          <a:xfrm>
            <a:off x="3145536" y="4709160"/>
            <a:ext cx="566928" cy="566928"/>
          </a:xfrm>
          <a:prstGeom prst="roundRect">
            <a:avLst>
              <a:gd name="adj" fmla="val 19355"/>
            </a:avLst>
          </a:prstGeom>
          <a:solidFill>
            <a:srgbClr val="17453A"/>
          </a:solidFill>
          <a:ln w="12700">
            <a:solidFill>
              <a:srgbClr val="17453A"/>
            </a:solidFill>
            <a:prstDash val="solid"/>
          </a:ln>
        </p:spPr>
      </p:sp>
      <p:pic>
        <p:nvPicPr>
          <p:cNvPr id="12" name="Topic 3 icon" descr="preencoded.png">    </p:cNvPr>
          <p:cNvPicPr>
            <a:picLocks noChangeAspect="1"/>
          </p:cNvPicPr>
          <p:nvPr/>
        </p:nvPicPr>
        <p:blipFill>
          <a:blip r:embed="rId4"/>
          <a:stretch>
            <a:fillRect/>
          </a:stretch>
        </p:blipFill>
        <p:spPr>
          <a:xfrm>
            <a:off x="3282696" y="4846320"/>
            <a:ext cx="292608" cy="292608"/>
          </a:xfrm>
          <a:prstGeom prst="rect">
            <a:avLst/>
          </a:prstGeom>
        </p:spPr>
      </p:pic>
      <p:sp>
        <p:nvSpPr>
          <p:cNvPr id="13" name="Topic 3 label"/>
          <p:cNvSpPr txBox="1"/>
          <p:nvPr/>
        </p:nvSpPr>
        <p:spPr>
          <a:xfrm>
            <a:off x="3099816" y="5349240"/>
            <a:ext cx="1143000" cy="457200"/>
          </a:xfrm>
          <a:prstGeom prst="rect">
            <a:avLst/>
          </a:prstGeom>
          <a:noFill/>
          <a:ln/>
        </p:spPr>
        <p:txBody>
          <a:bodyPr wrap="square" lIns="0" tIns="0" rIns="0" bIns="0" rtlCol="0" anchor="t"/>
          <a:lstStyle/>
          <a:p>
            <a:pPr indent="0" marL="0">
              <a:buNone/>
            </a:pPr>
            <a:r>
              <a:rPr lang="en-US" sz="1200" dirty="0">
                <a:solidFill>
                  <a:srgbClr val="D7E5E0"/>
                </a:solidFill>
              </a:rPr>
              <a:t>Employees &amp; shifts</a:t>
            </a:r>
            <a:endParaRPr lang="en-US" sz="1200" dirty="0"/>
          </a:p>
        </p:txBody>
      </p:sp>
      <p:sp>
        <p:nvSpPr>
          <p:cNvPr id="14" name="Topic 4 tile"/>
          <p:cNvSpPr/>
          <p:nvPr/>
        </p:nvSpPr>
        <p:spPr>
          <a:xfrm>
            <a:off x="4352544" y="4709160"/>
            <a:ext cx="566928" cy="566928"/>
          </a:xfrm>
          <a:prstGeom prst="roundRect">
            <a:avLst>
              <a:gd name="adj" fmla="val 19355"/>
            </a:avLst>
          </a:prstGeom>
          <a:solidFill>
            <a:srgbClr val="17453A"/>
          </a:solidFill>
          <a:ln w="12700">
            <a:solidFill>
              <a:srgbClr val="17453A"/>
            </a:solidFill>
            <a:prstDash val="solid"/>
          </a:ln>
        </p:spPr>
      </p:sp>
      <p:pic>
        <p:nvPicPr>
          <p:cNvPr id="15" name="Topic 4 icon" descr="preencoded.png">    </p:cNvPr>
          <p:cNvPicPr>
            <a:picLocks noChangeAspect="1"/>
          </p:cNvPicPr>
          <p:nvPr/>
        </p:nvPicPr>
        <p:blipFill>
          <a:blip r:embed="rId5"/>
          <a:stretch>
            <a:fillRect/>
          </a:stretch>
        </p:blipFill>
        <p:spPr>
          <a:xfrm>
            <a:off x="4489704" y="4846320"/>
            <a:ext cx="292608" cy="292608"/>
          </a:xfrm>
          <a:prstGeom prst="rect">
            <a:avLst/>
          </a:prstGeom>
        </p:spPr>
      </p:pic>
      <p:sp>
        <p:nvSpPr>
          <p:cNvPr id="16" name="Topic 4 label"/>
          <p:cNvSpPr txBox="1"/>
          <p:nvPr/>
        </p:nvSpPr>
        <p:spPr>
          <a:xfrm>
            <a:off x="4306824" y="5349240"/>
            <a:ext cx="1143000" cy="457200"/>
          </a:xfrm>
          <a:prstGeom prst="rect">
            <a:avLst/>
          </a:prstGeom>
          <a:noFill/>
          <a:ln/>
        </p:spPr>
        <p:txBody>
          <a:bodyPr wrap="square" lIns="0" tIns="0" rIns="0" bIns="0" rtlCol="0" anchor="t"/>
          <a:lstStyle/>
          <a:p>
            <a:pPr indent="0" marL="0">
              <a:buNone/>
            </a:pPr>
            <a:r>
              <a:rPr lang="en-US" sz="1200" dirty="0">
                <a:solidFill>
                  <a:srgbClr val="D7E5E0"/>
                </a:solidFill>
              </a:rPr>
              <a:t>Shift changes</a:t>
            </a:r>
            <a:endParaRPr lang="en-US" sz="1200" dirty="0"/>
          </a:p>
        </p:txBody>
      </p:sp>
      <p:sp>
        <p:nvSpPr>
          <p:cNvPr id="17" name="Topic 5 tile"/>
          <p:cNvSpPr/>
          <p:nvPr/>
        </p:nvSpPr>
        <p:spPr>
          <a:xfrm>
            <a:off x="5559552" y="4709160"/>
            <a:ext cx="566928" cy="566928"/>
          </a:xfrm>
          <a:prstGeom prst="roundRect">
            <a:avLst>
              <a:gd name="adj" fmla="val 19355"/>
            </a:avLst>
          </a:prstGeom>
          <a:solidFill>
            <a:srgbClr val="17453A"/>
          </a:solidFill>
          <a:ln w="12700">
            <a:solidFill>
              <a:srgbClr val="17453A"/>
            </a:solidFill>
            <a:prstDash val="solid"/>
          </a:ln>
        </p:spPr>
      </p:sp>
      <p:pic>
        <p:nvPicPr>
          <p:cNvPr id="18" name="Topic 5 icon" descr="preencoded.png">    </p:cNvPr>
          <p:cNvPicPr>
            <a:picLocks noChangeAspect="1"/>
          </p:cNvPicPr>
          <p:nvPr/>
        </p:nvPicPr>
        <p:blipFill>
          <a:blip r:embed="rId6"/>
          <a:stretch>
            <a:fillRect/>
          </a:stretch>
        </p:blipFill>
        <p:spPr>
          <a:xfrm>
            <a:off x="5696712" y="4846320"/>
            <a:ext cx="292608" cy="292608"/>
          </a:xfrm>
          <a:prstGeom prst="rect">
            <a:avLst/>
          </a:prstGeom>
        </p:spPr>
      </p:pic>
      <p:sp>
        <p:nvSpPr>
          <p:cNvPr id="19" name="Topic 5 label"/>
          <p:cNvSpPr txBox="1"/>
          <p:nvPr/>
        </p:nvSpPr>
        <p:spPr>
          <a:xfrm>
            <a:off x="5513832" y="5349240"/>
            <a:ext cx="1143000" cy="457200"/>
          </a:xfrm>
          <a:prstGeom prst="rect">
            <a:avLst/>
          </a:prstGeom>
          <a:noFill/>
          <a:ln/>
        </p:spPr>
        <p:txBody>
          <a:bodyPr wrap="square" lIns="0" tIns="0" rIns="0" bIns="0" rtlCol="0" anchor="t"/>
          <a:lstStyle/>
          <a:p>
            <a:pPr indent="0" marL="0">
              <a:buNone/>
            </a:pPr>
            <a:r>
              <a:rPr lang="en-US" sz="1200" dirty="0">
                <a:solidFill>
                  <a:srgbClr val="D7E5E0"/>
                </a:solidFill>
              </a:rPr>
              <a:t>Deployments</a:t>
            </a:r>
            <a:endParaRPr lang="en-US" sz="1200" dirty="0"/>
          </a:p>
        </p:txBody>
      </p:sp>
      <p:sp>
        <p:nvSpPr>
          <p:cNvPr id="20" name="Topic 6 tile"/>
          <p:cNvSpPr/>
          <p:nvPr/>
        </p:nvSpPr>
        <p:spPr>
          <a:xfrm>
            <a:off x="6766560" y="4709160"/>
            <a:ext cx="566928" cy="566928"/>
          </a:xfrm>
          <a:prstGeom prst="roundRect">
            <a:avLst>
              <a:gd name="adj" fmla="val 19355"/>
            </a:avLst>
          </a:prstGeom>
          <a:solidFill>
            <a:srgbClr val="17453A"/>
          </a:solidFill>
          <a:ln w="12700">
            <a:solidFill>
              <a:srgbClr val="17453A"/>
            </a:solidFill>
            <a:prstDash val="solid"/>
          </a:ln>
        </p:spPr>
      </p:sp>
      <p:pic>
        <p:nvPicPr>
          <p:cNvPr id="21" name="Topic 6 icon" descr="preencoded.png">    </p:cNvPr>
          <p:cNvPicPr>
            <a:picLocks noChangeAspect="1"/>
          </p:cNvPicPr>
          <p:nvPr/>
        </p:nvPicPr>
        <p:blipFill>
          <a:blip r:embed="rId7"/>
          <a:stretch>
            <a:fillRect/>
          </a:stretch>
        </p:blipFill>
        <p:spPr>
          <a:xfrm>
            <a:off x="6903720" y="4846320"/>
            <a:ext cx="292608" cy="292608"/>
          </a:xfrm>
          <a:prstGeom prst="rect">
            <a:avLst/>
          </a:prstGeom>
        </p:spPr>
      </p:pic>
      <p:sp>
        <p:nvSpPr>
          <p:cNvPr id="22" name="Topic 6 label"/>
          <p:cNvSpPr txBox="1"/>
          <p:nvPr/>
        </p:nvSpPr>
        <p:spPr>
          <a:xfrm>
            <a:off x="6720840" y="5349240"/>
            <a:ext cx="1143000" cy="457200"/>
          </a:xfrm>
          <a:prstGeom prst="rect">
            <a:avLst/>
          </a:prstGeom>
          <a:noFill/>
          <a:ln/>
        </p:spPr>
        <p:txBody>
          <a:bodyPr wrap="square" lIns="0" tIns="0" rIns="0" bIns="0" rtlCol="0" anchor="t"/>
          <a:lstStyle/>
          <a:p>
            <a:pPr indent="0" marL="0">
              <a:buNone/>
            </a:pPr>
            <a:r>
              <a:rPr lang="en-US" sz="1200" dirty="0">
                <a:solidFill>
                  <a:srgbClr val="D7E5E0"/>
                </a:solidFill>
              </a:rPr>
              <a:t>Leave</a:t>
            </a:r>
            <a:endParaRPr lang="en-US" sz="1200" dirty="0"/>
          </a:p>
        </p:txBody>
      </p:sp>
      <p:sp>
        <p:nvSpPr>
          <p:cNvPr id="23" name="Topic 7 tile"/>
          <p:cNvSpPr/>
          <p:nvPr/>
        </p:nvSpPr>
        <p:spPr>
          <a:xfrm>
            <a:off x="7973568" y="4709160"/>
            <a:ext cx="566928" cy="566928"/>
          </a:xfrm>
          <a:prstGeom prst="roundRect">
            <a:avLst>
              <a:gd name="adj" fmla="val 19355"/>
            </a:avLst>
          </a:prstGeom>
          <a:solidFill>
            <a:srgbClr val="17453A"/>
          </a:solidFill>
          <a:ln w="12700">
            <a:solidFill>
              <a:srgbClr val="17453A"/>
            </a:solidFill>
            <a:prstDash val="solid"/>
          </a:ln>
        </p:spPr>
      </p:sp>
      <p:pic>
        <p:nvPicPr>
          <p:cNvPr id="24" name="Topic 7 icon" descr="preencoded.png">    </p:cNvPr>
          <p:cNvPicPr>
            <a:picLocks noChangeAspect="1"/>
          </p:cNvPicPr>
          <p:nvPr/>
        </p:nvPicPr>
        <p:blipFill>
          <a:blip r:embed="rId8"/>
          <a:stretch>
            <a:fillRect/>
          </a:stretch>
        </p:blipFill>
        <p:spPr>
          <a:xfrm>
            <a:off x="8110728" y="4846320"/>
            <a:ext cx="292608" cy="292608"/>
          </a:xfrm>
          <a:prstGeom prst="rect">
            <a:avLst/>
          </a:prstGeom>
        </p:spPr>
      </p:pic>
      <p:sp>
        <p:nvSpPr>
          <p:cNvPr id="25" name="Topic 7 label"/>
          <p:cNvSpPr txBox="1"/>
          <p:nvPr/>
        </p:nvSpPr>
        <p:spPr>
          <a:xfrm>
            <a:off x="7927848" y="5349240"/>
            <a:ext cx="1143000" cy="457200"/>
          </a:xfrm>
          <a:prstGeom prst="rect">
            <a:avLst/>
          </a:prstGeom>
          <a:noFill/>
          <a:ln/>
        </p:spPr>
        <p:txBody>
          <a:bodyPr wrap="square" lIns="0" tIns="0" rIns="0" bIns="0" rtlCol="0" anchor="t"/>
          <a:lstStyle/>
          <a:p>
            <a:pPr indent="0" marL="0">
              <a:buNone/>
            </a:pPr>
            <a:r>
              <a:rPr lang="en-US" sz="1200" dirty="0">
                <a:solidFill>
                  <a:srgbClr val="D7E5E0"/>
                </a:solidFill>
              </a:rPr>
              <a:t>Approvals</a:t>
            </a:r>
            <a:endParaRPr lang="en-US" sz="1200" dirty="0"/>
          </a:p>
        </p:txBody>
      </p:sp>
      <p:sp>
        <p:nvSpPr>
          <p:cNvPr id="26" name="Topic 8 tile"/>
          <p:cNvSpPr/>
          <p:nvPr/>
        </p:nvSpPr>
        <p:spPr>
          <a:xfrm>
            <a:off x="9180576" y="4709160"/>
            <a:ext cx="566928" cy="566928"/>
          </a:xfrm>
          <a:prstGeom prst="roundRect">
            <a:avLst>
              <a:gd name="adj" fmla="val 19355"/>
            </a:avLst>
          </a:prstGeom>
          <a:solidFill>
            <a:srgbClr val="17453A"/>
          </a:solidFill>
          <a:ln w="12700">
            <a:solidFill>
              <a:srgbClr val="17453A"/>
            </a:solidFill>
            <a:prstDash val="solid"/>
          </a:ln>
        </p:spPr>
      </p:sp>
      <p:pic>
        <p:nvPicPr>
          <p:cNvPr id="27" name="Topic 8 icon" descr="preencoded.png">    </p:cNvPr>
          <p:cNvPicPr>
            <a:picLocks noChangeAspect="1"/>
          </p:cNvPicPr>
          <p:nvPr/>
        </p:nvPicPr>
        <p:blipFill>
          <a:blip r:embed="rId9"/>
          <a:stretch>
            <a:fillRect/>
          </a:stretch>
        </p:blipFill>
        <p:spPr>
          <a:xfrm>
            <a:off x="9317736" y="4846320"/>
            <a:ext cx="292608" cy="292608"/>
          </a:xfrm>
          <a:prstGeom prst="rect">
            <a:avLst/>
          </a:prstGeom>
        </p:spPr>
      </p:pic>
      <p:sp>
        <p:nvSpPr>
          <p:cNvPr id="28" name="Topic 8 label"/>
          <p:cNvSpPr txBox="1"/>
          <p:nvPr/>
        </p:nvSpPr>
        <p:spPr>
          <a:xfrm>
            <a:off x="9134856" y="5349240"/>
            <a:ext cx="1143000" cy="457200"/>
          </a:xfrm>
          <a:prstGeom prst="rect">
            <a:avLst/>
          </a:prstGeom>
          <a:noFill/>
          <a:ln/>
        </p:spPr>
        <p:txBody>
          <a:bodyPr wrap="square" lIns="0" tIns="0" rIns="0" bIns="0" rtlCol="0" anchor="t"/>
          <a:lstStyle/>
          <a:p>
            <a:pPr indent="0" marL="0">
              <a:buNone/>
            </a:pPr>
            <a:r>
              <a:rPr lang="en-US" sz="1200" dirty="0">
                <a:solidFill>
                  <a:srgbClr val="D7E5E0"/>
                </a:solidFill>
              </a:rPr>
              <a:t>Shift swaps</a:t>
            </a:r>
            <a:endParaRPr lang="en-US" sz="1200" dirty="0"/>
          </a:p>
        </p:txBody>
      </p:sp>
      <p:sp>
        <p:nvSpPr>
          <p:cNvPr id="29" name="Topic 9 tile"/>
          <p:cNvSpPr/>
          <p:nvPr/>
        </p:nvSpPr>
        <p:spPr>
          <a:xfrm>
            <a:off x="10387584" y="4709160"/>
            <a:ext cx="566928" cy="566928"/>
          </a:xfrm>
          <a:prstGeom prst="roundRect">
            <a:avLst>
              <a:gd name="adj" fmla="val 19355"/>
            </a:avLst>
          </a:prstGeom>
          <a:solidFill>
            <a:srgbClr val="17453A"/>
          </a:solidFill>
          <a:ln w="12700">
            <a:solidFill>
              <a:srgbClr val="17453A"/>
            </a:solidFill>
            <a:prstDash val="solid"/>
          </a:ln>
        </p:spPr>
      </p:sp>
      <p:pic>
        <p:nvPicPr>
          <p:cNvPr id="30" name="Topic 9 icon" descr="preencoded.png">    </p:cNvPr>
          <p:cNvPicPr>
            <a:picLocks noChangeAspect="1"/>
          </p:cNvPicPr>
          <p:nvPr/>
        </p:nvPicPr>
        <p:blipFill>
          <a:blip r:embed="rId10"/>
          <a:stretch>
            <a:fillRect/>
          </a:stretch>
        </p:blipFill>
        <p:spPr>
          <a:xfrm>
            <a:off x="10524744" y="4846320"/>
            <a:ext cx="292608" cy="292608"/>
          </a:xfrm>
          <a:prstGeom prst="rect">
            <a:avLst/>
          </a:prstGeom>
        </p:spPr>
      </p:pic>
      <p:sp>
        <p:nvSpPr>
          <p:cNvPr id="31" name="Topic 9 label"/>
          <p:cNvSpPr txBox="1"/>
          <p:nvPr/>
        </p:nvSpPr>
        <p:spPr>
          <a:xfrm>
            <a:off x="10341864" y="5349240"/>
            <a:ext cx="1143000" cy="457200"/>
          </a:xfrm>
          <a:prstGeom prst="rect">
            <a:avLst/>
          </a:prstGeom>
          <a:noFill/>
          <a:ln/>
        </p:spPr>
        <p:txBody>
          <a:bodyPr wrap="square" lIns="0" tIns="0" rIns="0" bIns="0" rtlCol="0" anchor="t"/>
          <a:lstStyle/>
          <a:p>
            <a:pPr indent="0" marL="0">
              <a:buNone/>
            </a:pPr>
            <a:r>
              <a:rPr lang="en-US" sz="1200" dirty="0">
                <a:solidFill>
                  <a:srgbClr val="D7E5E0"/>
                </a:solidFill>
              </a:rPr>
              <a:t>Dashboard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600" b="1" dirty="0">
                <a:solidFill>
                  <a:schemeClr val="tx1"/>
                </a:solidFill>
              </a:rPr>
              <a:t>Set up in three steps</a:t>
            </a:r>
            <a:endParaRPr lang="en-US" sz="3600" dirty="0"/>
          </a:p>
        </p:txBody>
      </p:sp>
      <p:sp>
        <p:nvSpPr>
          <p:cNvPr id="3" name="Text 1"/>
          <p:cNvSpPr txBox="1"/>
          <p:nvPr/>
        </p:nvSpPr>
        <p:spPr>
          <a:xfrm>
            <a:off x="548640" y="1097280"/>
            <a:ext cx="10972800" cy="365760"/>
          </a:xfrm>
          <a:prstGeom prst="rect">
            <a:avLst/>
          </a:prstGeom>
          <a:noFill/>
          <a:ln/>
        </p:spPr>
        <p:txBody>
          <a:bodyPr wrap="square" lIns="0" tIns="0" rIns="0" bIns="0" rtlCol="0" anchor="ctr"/>
          <a:lstStyle/>
          <a:p>
            <a:pPr indent="0" marL="0">
              <a:buNone/>
            </a:pPr>
            <a:r>
              <a:rPr lang="en-US" sz="1600" dirty="0">
                <a:solidFill>
                  <a:srgbClr val="475467"/>
                </a:solidFill>
              </a:rPr>
              <a:t>Devices, sites and people: everything else builds on these.</a:t>
            </a:r>
            <a:endParaRPr lang="en-US" sz="1600" dirty="0"/>
          </a:p>
        </p:txBody>
      </p:sp>
      <p:sp>
        <p:nvSpPr>
          <p:cNvPr id="4" name="Step 1 card"/>
          <p:cNvSpPr/>
          <p:nvPr/>
        </p:nvSpPr>
        <p:spPr>
          <a:xfrm>
            <a:off x="548640" y="1691640"/>
            <a:ext cx="3520440" cy="4389120"/>
          </a:xfrm>
          <a:prstGeom prst="roundRect">
            <a:avLst>
              <a:gd name="adj" fmla="val 3636"/>
            </a:avLst>
          </a:prstGeom>
          <a:solidFill>
            <a:schemeClr val="bg2"/>
          </a:solidFill>
          <a:ln w="12700">
            <a:solidFill>
              <a:schemeClr val="bg2"/>
            </a:solidFill>
            <a:prstDash val="solid"/>
          </a:ln>
        </p:spPr>
      </p:sp>
      <p:sp>
        <p:nvSpPr>
          <p:cNvPr id="5" name="Step 1 circle"/>
          <p:cNvSpPr/>
          <p:nvPr/>
        </p:nvSpPr>
        <p:spPr>
          <a:xfrm>
            <a:off x="822960" y="1965960"/>
            <a:ext cx="640080" cy="640080"/>
          </a:xfrm>
          <a:prstGeom prst="ellipse">
            <a:avLst/>
          </a:prstGeom>
          <a:solidFill>
            <a:schemeClr val="accent1"/>
          </a:solidFill>
          <a:ln w="12700">
            <a:solidFill>
              <a:schemeClr val="accent1"/>
            </a:solidFill>
            <a:prstDash val="solid"/>
          </a:ln>
        </p:spPr>
      </p:sp>
      <p:pic>
        <p:nvPicPr>
          <p:cNvPr id="6" name="Step 1 icon" descr="preencoded.png">    </p:cNvPr>
          <p:cNvPicPr>
            <a:picLocks noChangeAspect="1"/>
          </p:cNvPicPr>
          <p:nvPr/>
        </p:nvPicPr>
        <p:blipFill>
          <a:blip r:embed="rId1"/>
          <a:stretch>
            <a:fillRect/>
          </a:stretch>
        </p:blipFill>
        <p:spPr>
          <a:xfrm>
            <a:off x="976579" y="2119579"/>
            <a:ext cx="332842" cy="332842"/>
          </a:xfrm>
          <a:prstGeom prst="rect">
            <a:avLst/>
          </a:prstGeom>
        </p:spPr>
      </p:pic>
      <p:sp>
        <p:nvSpPr>
          <p:cNvPr id="7" name="Step 1 title"/>
          <p:cNvSpPr txBox="1"/>
          <p:nvPr/>
        </p:nvSpPr>
        <p:spPr>
          <a:xfrm>
            <a:off x="822960" y="2743200"/>
            <a:ext cx="2971800" cy="6858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01  Configure devices</a:t>
            </a:r>
            <a:endParaRPr lang="en-US" sz="2000" dirty="0"/>
          </a:p>
        </p:txBody>
      </p:sp>
      <p:sp>
        <p:nvSpPr>
          <p:cNvPr id="8" name="Step 1 points"/>
          <p:cNvSpPr txBox="1"/>
          <p:nvPr/>
        </p:nvSpPr>
        <p:spPr>
          <a:xfrm>
            <a:off x="822960" y="3474720"/>
            <a:ext cx="3017520" cy="24688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344054"/>
                </a:solidFill>
              </a:rPr>
              <a:t>Register ZKTeco, Hikvision, Suprema, Anviz or Matrix terminals</a:t>
            </a:r>
            <a:endParaRPr lang="en-US" sz="1400" dirty="0"/>
          </a:p>
          <a:p>
            <a:pPr marL="177800" indent="-177800">
              <a:spcAft>
                <a:spcPts val="700"/>
              </a:spcAft>
              <a:buSzPct val="100000"/>
              <a:buChar char="•"/>
            </a:pPr>
            <a:r>
              <a:rPr lang="en-US" sz="1400" dirty="0">
                <a:solidFill>
                  <a:srgbClr val="344054"/>
                </a:solidFill>
              </a:rPr>
              <a:t>Code, name, branch and timezone</a:t>
            </a:r>
            <a:endParaRPr lang="en-US" sz="1400" dirty="0"/>
          </a:p>
          <a:p>
            <a:pPr marL="177800" indent="-177800">
              <a:spcAft>
                <a:spcPts val="700"/>
              </a:spcAft>
              <a:buSzPct val="100000"/>
              <a:buChar char="•"/>
            </a:pPr>
            <a:r>
              <a:rPr lang="en-US" sz="1400" dirty="0">
                <a:solidFill>
                  <a:srgbClr val="344054"/>
                </a:solidFill>
              </a:rPr>
              <a:t>Push terminals get their own URL and token and go live on their first heartbeat</a:t>
            </a:r>
            <a:endParaRPr lang="en-US" sz="1400" dirty="0"/>
          </a:p>
          <a:p>
            <a:pPr marL="177800" indent="-177800">
              <a:spcAft>
                <a:spcPts val="700"/>
              </a:spcAft>
              <a:buSzPct val="100000"/>
              <a:buChar char="•"/>
            </a:pPr>
            <a:r>
              <a:rPr lang="en-US" sz="1400" dirty="0">
                <a:solidFill>
                  <a:srgbClr val="344054"/>
                </a:solidFill>
              </a:rPr>
              <a:t>Cloud and server connections can be tested before registering</a:t>
            </a:r>
            <a:endParaRPr lang="en-US" sz="1400" dirty="0"/>
          </a:p>
        </p:txBody>
      </p:sp>
      <p:sp>
        <p:nvSpPr>
          <p:cNvPr id="9" name="Step 2 card"/>
          <p:cNvSpPr/>
          <p:nvPr/>
        </p:nvSpPr>
        <p:spPr>
          <a:xfrm>
            <a:off x="4343400" y="1691640"/>
            <a:ext cx="3520440" cy="4389120"/>
          </a:xfrm>
          <a:prstGeom prst="roundRect">
            <a:avLst>
              <a:gd name="adj" fmla="val 3636"/>
            </a:avLst>
          </a:prstGeom>
          <a:solidFill>
            <a:schemeClr val="bg2"/>
          </a:solidFill>
          <a:ln w="12700">
            <a:solidFill>
              <a:schemeClr val="bg2"/>
            </a:solidFill>
            <a:prstDash val="solid"/>
          </a:ln>
        </p:spPr>
      </p:sp>
      <p:sp>
        <p:nvSpPr>
          <p:cNvPr id="10" name="Step 2 circle"/>
          <p:cNvSpPr/>
          <p:nvPr/>
        </p:nvSpPr>
        <p:spPr>
          <a:xfrm>
            <a:off x="4617720" y="1965960"/>
            <a:ext cx="640080" cy="640080"/>
          </a:xfrm>
          <a:prstGeom prst="ellipse">
            <a:avLst/>
          </a:prstGeom>
          <a:solidFill>
            <a:schemeClr val="accent1"/>
          </a:solidFill>
          <a:ln w="12700">
            <a:solidFill>
              <a:schemeClr val="accent1"/>
            </a:solidFill>
            <a:prstDash val="solid"/>
          </a:ln>
        </p:spPr>
      </p:sp>
      <p:pic>
        <p:nvPicPr>
          <p:cNvPr id="11" name="Step 2 icon" descr="preencoded.png">    </p:cNvPr>
          <p:cNvPicPr>
            <a:picLocks noChangeAspect="1"/>
          </p:cNvPicPr>
          <p:nvPr/>
        </p:nvPicPr>
        <p:blipFill>
          <a:blip r:embed="rId2"/>
          <a:stretch>
            <a:fillRect/>
          </a:stretch>
        </p:blipFill>
        <p:spPr>
          <a:xfrm>
            <a:off x="4771339" y="2119579"/>
            <a:ext cx="332842" cy="332842"/>
          </a:xfrm>
          <a:prstGeom prst="rect">
            <a:avLst/>
          </a:prstGeom>
        </p:spPr>
      </p:pic>
      <p:sp>
        <p:nvSpPr>
          <p:cNvPr id="12" name="Step 2 title"/>
          <p:cNvSpPr txBox="1"/>
          <p:nvPr/>
        </p:nvSpPr>
        <p:spPr>
          <a:xfrm>
            <a:off x="4617720" y="2743200"/>
            <a:ext cx="2971800" cy="6858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02  Branches &amp; sites</a:t>
            </a:r>
            <a:endParaRPr lang="en-US" sz="2000" dirty="0"/>
          </a:p>
        </p:txBody>
      </p:sp>
      <p:sp>
        <p:nvSpPr>
          <p:cNvPr id="13" name="Step 2 points"/>
          <p:cNvSpPr txBox="1"/>
          <p:nvPr/>
        </p:nvSpPr>
        <p:spPr>
          <a:xfrm>
            <a:off x="4617720" y="3474720"/>
            <a:ext cx="3017520" cy="24688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344054"/>
                </a:solidFill>
              </a:rPr>
              <a:t>Each branch is a site: code, city and timezone</a:t>
            </a:r>
            <a:endParaRPr lang="en-US" sz="1400" dirty="0"/>
          </a:p>
          <a:p>
            <a:pPr marL="177800" indent="-177800">
              <a:spcAft>
                <a:spcPts val="700"/>
              </a:spcAft>
              <a:buSzPct val="100000"/>
              <a:buChar char="•"/>
            </a:pPr>
            <a:r>
              <a:rPr lang="en-US" sz="1400" dirty="0">
                <a:solidFill>
                  <a:srgbClr val="344054"/>
                </a:solidFill>
              </a:rPr>
              <a:t>Its own weekly off days and holiday calendar</a:t>
            </a:r>
            <a:endParaRPr lang="en-US" sz="1400" dirty="0"/>
          </a:p>
          <a:p>
            <a:pPr marL="177800" indent="-177800">
              <a:spcAft>
                <a:spcPts val="700"/>
              </a:spcAft>
              <a:buSzPct val="100000"/>
              <a:buChar char="•"/>
            </a:pPr>
            <a:r>
              <a:rPr lang="en-US" sz="1400" dirty="0">
                <a:solidFill>
                  <a:srgbClr val="344054"/>
                </a:solidFill>
              </a:rPr>
              <a:t>The branch timezone decides the attendance date</a:t>
            </a:r>
            <a:endParaRPr lang="en-US" sz="1400" dirty="0"/>
          </a:p>
          <a:p>
            <a:pPr marL="177800" indent="-177800">
              <a:spcAft>
                <a:spcPts val="700"/>
              </a:spcAft>
              <a:buSzPct val="100000"/>
              <a:buChar char="•"/>
            </a:pPr>
            <a:r>
              <a:rPr lang="en-US" sz="1400" dirty="0">
                <a:solidFill>
                  <a:srgbClr val="344054"/>
                </a:solidFill>
              </a:rPr>
              <a:t>Geofences check where web and mobile check-ins happen</a:t>
            </a:r>
            <a:endParaRPr lang="en-US" sz="1400" dirty="0"/>
          </a:p>
        </p:txBody>
      </p:sp>
      <p:sp>
        <p:nvSpPr>
          <p:cNvPr id="14" name="Step 3 card"/>
          <p:cNvSpPr/>
          <p:nvPr/>
        </p:nvSpPr>
        <p:spPr>
          <a:xfrm>
            <a:off x="8138160" y="1691640"/>
            <a:ext cx="3520440" cy="4389120"/>
          </a:xfrm>
          <a:prstGeom prst="roundRect">
            <a:avLst>
              <a:gd name="adj" fmla="val 3636"/>
            </a:avLst>
          </a:prstGeom>
          <a:solidFill>
            <a:schemeClr val="bg2"/>
          </a:solidFill>
          <a:ln w="12700">
            <a:solidFill>
              <a:schemeClr val="bg2"/>
            </a:solidFill>
            <a:prstDash val="solid"/>
          </a:ln>
        </p:spPr>
      </p:sp>
      <p:sp>
        <p:nvSpPr>
          <p:cNvPr id="15" name="Step 3 circle"/>
          <p:cNvSpPr/>
          <p:nvPr/>
        </p:nvSpPr>
        <p:spPr>
          <a:xfrm>
            <a:off x="8412480" y="1965960"/>
            <a:ext cx="640080" cy="640080"/>
          </a:xfrm>
          <a:prstGeom prst="ellipse">
            <a:avLst/>
          </a:prstGeom>
          <a:solidFill>
            <a:schemeClr val="accent1"/>
          </a:solidFill>
          <a:ln w="12700">
            <a:solidFill>
              <a:schemeClr val="accent1"/>
            </a:solidFill>
            <a:prstDash val="solid"/>
          </a:ln>
        </p:spPr>
      </p:sp>
      <p:pic>
        <p:nvPicPr>
          <p:cNvPr id="16" name="Step 3 icon" descr="preencoded.png">    </p:cNvPr>
          <p:cNvPicPr>
            <a:picLocks noChangeAspect="1"/>
          </p:cNvPicPr>
          <p:nvPr/>
        </p:nvPicPr>
        <p:blipFill>
          <a:blip r:embed="rId3"/>
          <a:stretch>
            <a:fillRect/>
          </a:stretch>
        </p:blipFill>
        <p:spPr>
          <a:xfrm>
            <a:off x="8566099" y="2119579"/>
            <a:ext cx="332842" cy="332842"/>
          </a:xfrm>
          <a:prstGeom prst="rect">
            <a:avLst/>
          </a:prstGeom>
        </p:spPr>
      </p:pic>
      <p:sp>
        <p:nvSpPr>
          <p:cNvPr id="17" name="Step 3 title"/>
          <p:cNvSpPr txBox="1"/>
          <p:nvPr/>
        </p:nvSpPr>
        <p:spPr>
          <a:xfrm>
            <a:off x="8412480" y="2743200"/>
            <a:ext cx="2971800" cy="6858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03  Employees &amp; shifts</a:t>
            </a:r>
            <a:endParaRPr lang="en-US" sz="2000" dirty="0"/>
          </a:p>
        </p:txBody>
      </p:sp>
      <p:sp>
        <p:nvSpPr>
          <p:cNvPr id="18" name="Step 3 points"/>
          <p:cNvSpPr txBox="1"/>
          <p:nvPr/>
        </p:nvSpPr>
        <p:spPr>
          <a:xfrm>
            <a:off x="8412480" y="3474720"/>
            <a:ext cx="3017520" cy="24688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344054"/>
                </a:solidFill>
              </a:rPr>
              <a:t>Add employees one by one or import from CSV</a:t>
            </a:r>
            <a:endParaRPr lang="en-US" sz="1400" dirty="0"/>
          </a:p>
          <a:p>
            <a:pPr marL="177800" indent="-177800">
              <a:spcAft>
                <a:spcPts val="700"/>
              </a:spcAft>
              <a:buSzPct val="100000"/>
              <a:buChar char="•"/>
            </a:pPr>
            <a:r>
              <a:rPr lang="en-US" sz="1400" dirty="0">
                <a:solidFill>
                  <a:srgbClr val="344054"/>
                </a:solidFill>
              </a:rPr>
              <a:t>Branch, department, designation and line manager</a:t>
            </a:r>
            <a:endParaRPr lang="en-US" sz="1400" dirty="0"/>
          </a:p>
          <a:p>
            <a:pPr marL="177800" indent="-177800">
              <a:spcAft>
                <a:spcPts val="700"/>
              </a:spcAft>
              <a:buSzPct val="100000"/>
              <a:buChar char="•"/>
            </a:pPr>
            <a:r>
              <a:rPr lang="en-US" sz="1400" dirty="0">
                <a:solidFill>
                  <a:srgbClr val="344054"/>
                </a:solidFill>
              </a:rPr>
              <a:t>Fixed or flexible shifts with breaks, grace and punch windows, including overnight</a:t>
            </a:r>
            <a:endParaRPr lang="en-US" sz="1400" dirty="0"/>
          </a:p>
          <a:p>
            <a:pPr marL="177800" indent="-177800">
              <a:spcAft>
                <a:spcPts val="700"/>
              </a:spcAft>
              <a:buSzPct val="100000"/>
              <a:buChar char="•"/>
            </a:pPr>
            <a:r>
              <a:rPr lang="en-US" sz="1400" dirty="0">
                <a:solidFill>
                  <a:srgbClr val="344054"/>
                </a:solidFill>
              </a:rPr>
              <a:t>Assign by branch, department, team or employee; the most specific wins</a:t>
            </a:r>
            <a:endParaRPr lang="en-US" sz="1400" dirty="0"/>
          </a:p>
        </p:txBody>
      </p:sp>
      <p:sp>
        <p:nvSpPr>
          <p:cNvPr id="25" name="Slide Number Placeholder 0"/>
          <p:cNvSpPr>
            <a:spLocks noGrp="1"/>
          </p:cNvSpPr>
          <p:nvPr>
            <p:ph type="sldNum" sz="quarter" idx="4294967295"/>
          </p:nvPr>
        </p:nvSpPr>
        <p:spPr>
          <a:xfrm>
            <a:off x="11292840" y="6355080"/>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670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600" b="1" dirty="0">
                <a:solidFill>
                  <a:schemeClr val="tx1"/>
                </a:solidFill>
              </a:rPr>
              <a:t>Workforce changes, handled without rework</a:t>
            </a:r>
            <a:endParaRPr lang="en-US" sz="3600" dirty="0"/>
          </a:p>
        </p:txBody>
      </p:sp>
      <p:sp>
        <p:nvSpPr>
          <p:cNvPr id="3" name="Deployment card"/>
          <p:cNvSpPr/>
          <p:nvPr/>
        </p:nvSpPr>
        <p:spPr>
          <a:xfrm>
            <a:off x="548640" y="1371600"/>
            <a:ext cx="6903720" cy="4709160"/>
          </a:xfrm>
          <a:prstGeom prst="roundRect">
            <a:avLst>
              <a:gd name="adj" fmla="val 2718"/>
            </a:avLst>
          </a:prstGeom>
          <a:solidFill>
            <a:schemeClr val="bg2"/>
          </a:solidFill>
          <a:ln w="12700">
            <a:solidFill>
              <a:schemeClr val="bg2"/>
            </a:solidFill>
            <a:prstDash val="solid"/>
          </a:ln>
        </p:spPr>
      </p:sp>
      <p:sp>
        <p:nvSpPr>
          <p:cNvPr id="4" name="Deployment circle"/>
          <p:cNvSpPr/>
          <p:nvPr/>
        </p:nvSpPr>
        <p:spPr>
          <a:xfrm>
            <a:off x="822960" y="1645920"/>
            <a:ext cx="566928" cy="566928"/>
          </a:xfrm>
          <a:prstGeom prst="ellipse">
            <a:avLst/>
          </a:prstGeom>
          <a:solidFill>
            <a:schemeClr val="accent1"/>
          </a:solidFill>
          <a:ln w="12700">
            <a:solidFill>
              <a:schemeClr val="accent1"/>
            </a:solidFill>
            <a:prstDash val="solid"/>
          </a:ln>
        </p:spPr>
      </p:sp>
      <p:pic>
        <p:nvPicPr>
          <p:cNvPr id="5" name="Deployment icon" descr="preencoded.png">    </p:cNvPr>
          <p:cNvPicPr>
            <a:picLocks noChangeAspect="1"/>
          </p:cNvPicPr>
          <p:nvPr/>
        </p:nvPicPr>
        <p:blipFill>
          <a:blip r:embed="rId1"/>
          <a:stretch>
            <a:fillRect/>
          </a:stretch>
        </p:blipFill>
        <p:spPr>
          <a:xfrm>
            <a:off x="959023" y="1781983"/>
            <a:ext cx="294803" cy="294803"/>
          </a:xfrm>
          <a:prstGeom prst="rect">
            <a:avLst/>
          </a:prstGeom>
        </p:spPr>
      </p:pic>
      <p:sp>
        <p:nvSpPr>
          <p:cNvPr id="6" name="Deployment title"/>
          <p:cNvSpPr txBox="1"/>
          <p:nvPr/>
        </p:nvSpPr>
        <p:spPr>
          <a:xfrm>
            <a:off x="1554480" y="1627632"/>
            <a:ext cx="5486400" cy="36576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Branch deployment</a:t>
            </a:r>
            <a:endParaRPr lang="en-US" sz="2000" dirty="0"/>
          </a:p>
        </p:txBody>
      </p:sp>
      <p:sp>
        <p:nvSpPr>
          <p:cNvPr id="7" name="Deployment subtitle"/>
          <p:cNvSpPr txBox="1"/>
          <p:nvPr/>
        </p:nvSpPr>
        <p:spPr>
          <a:xfrm>
            <a:off x="1554480" y="1993392"/>
            <a:ext cx="5669280" cy="320040"/>
          </a:xfrm>
          <a:prstGeom prst="rect">
            <a:avLst/>
          </a:prstGeom>
          <a:noFill/>
          <a:ln/>
        </p:spPr>
        <p:txBody>
          <a:bodyPr wrap="square" lIns="0" tIns="0" rIns="0" bIns="0" rtlCol="0" anchor="ctr"/>
          <a:lstStyle/>
          <a:p>
            <a:pPr indent="0" marL="0">
              <a:buNone/>
            </a:pPr>
            <a:r>
              <a:rPr lang="en-US" sz="1400" dirty="0">
                <a:solidFill>
                  <a:srgbClr val="475467"/>
                </a:solidFill>
              </a:rPr>
              <a:t>Salim works in Muscat and covers the Sohar branch for two weeks</a:t>
            </a:r>
            <a:endParaRPr lang="en-US" sz="1400" dirty="0"/>
          </a:p>
        </p:txBody>
      </p:sp>
      <p:sp>
        <p:nvSpPr>
          <p:cNvPr id="8" name="Home branch node"/>
          <p:cNvSpPr/>
          <p:nvPr/>
        </p:nvSpPr>
        <p:spPr>
          <a:xfrm>
            <a:off x="822960" y="2606040"/>
            <a:ext cx="2377440" cy="868680"/>
          </a:xfrm>
          <a:prstGeom prst="roundRect">
            <a:avLst>
              <a:gd name="adj" fmla="val 10526"/>
            </a:avLst>
          </a:prstGeom>
          <a:solidFill>
            <a:schemeClr val="bg1"/>
          </a:solidFill>
          <a:ln w="12700">
            <a:solidFill>
              <a:srgbClr val="D5F2E5"/>
            </a:solidFill>
            <a:prstDash val="solid"/>
          </a:ln>
        </p:spPr>
      </p:sp>
      <p:sp>
        <p:nvSpPr>
          <p:cNvPr id="9" name="Home branch node text"/>
          <p:cNvSpPr txBox="1"/>
          <p:nvPr/>
        </p:nvSpPr>
        <p:spPr>
          <a:xfrm>
            <a:off x="1005840" y="2715768"/>
            <a:ext cx="2011680" cy="658368"/>
          </a:xfrm>
          <a:prstGeom prst="rect">
            <a:avLst/>
          </a:prstGeom>
          <a:noFill/>
          <a:ln/>
        </p:spPr>
        <p:txBody>
          <a:bodyPr wrap="square" lIns="0" tIns="0" rIns="0" bIns="0" rtlCol="0" anchor="ctr"/>
          <a:lstStyle/>
          <a:p>
            <a:pPr indent="0" marL="0">
              <a:buNone/>
            </a:pPr>
            <a:r>
              <a:rPr lang="en-US" sz="1600" b="1" dirty="0">
                <a:solidFill>
                  <a:schemeClr val="tx1"/>
                </a:solidFill>
              </a:rPr>
              <a:t>Muscat HQ</a:t>
            </a:r>
            <a:endParaRPr lang="en-US" sz="1600" dirty="0"/>
          </a:p>
          <a:p>
            <a:pPr indent="0" marL="0">
              <a:buNone/>
            </a:pPr>
            <a:r>
              <a:rPr lang="en-US" sz="1200" dirty="0">
                <a:solidFill>
                  <a:srgbClr val="475467"/>
                </a:solidFill>
              </a:rPr>
              <a:t>Home branch</a:t>
            </a:r>
            <a:endParaRPr lang="en-US" sz="1600" dirty="0"/>
          </a:p>
        </p:txBody>
      </p:sp>
      <p:sp>
        <p:nvSpPr>
          <p:cNvPr id="10" name="Deployment arrow"/>
          <p:cNvSpPr/>
          <p:nvPr/>
        </p:nvSpPr>
        <p:spPr>
          <a:xfrm>
            <a:off x="3291840" y="3035808"/>
            <a:ext cx="1143000" cy="0"/>
          </a:xfrm>
          <a:prstGeom prst="line">
            <a:avLst/>
          </a:prstGeom>
          <a:noFill/>
          <a:ln w="31750">
            <a:solidFill>
              <a:schemeClr val="accent2"/>
            </a:solidFill>
            <a:prstDash val="dash"/>
            <a:tailEnd type="triangle"/>
          </a:ln>
        </p:spPr>
      </p:sp>
      <p:sp>
        <p:nvSpPr>
          <p:cNvPr id="11" name="Deployment dates"/>
          <p:cNvSpPr txBox="1"/>
          <p:nvPr/>
        </p:nvSpPr>
        <p:spPr>
          <a:xfrm>
            <a:off x="3246120" y="2670048"/>
            <a:ext cx="1234440" cy="274320"/>
          </a:xfrm>
          <a:prstGeom prst="rect">
            <a:avLst/>
          </a:prstGeom>
          <a:noFill/>
          <a:ln/>
        </p:spPr>
        <p:txBody>
          <a:bodyPr wrap="square" lIns="0" tIns="0" rIns="0" bIns="0" rtlCol="0" anchor="ctr"/>
          <a:lstStyle/>
          <a:p>
            <a:pPr algn="ctr" indent="0" marL="0">
              <a:buNone/>
            </a:pPr>
            <a:r>
              <a:rPr lang="en-US" sz="1200" b="1" dirty="0">
                <a:solidFill>
                  <a:schemeClr val="accent1"/>
                </a:solidFill>
              </a:rPr>
              <a:t>11 – 22 Oct</a:t>
            </a:r>
            <a:endParaRPr lang="en-US" sz="1200" dirty="0"/>
          </a:p>
        </p:txBody>
      </p:sp>
      <p:sp>
        <p:nvSpPr>
          <p:cNvPr id="12" name="Host branch node"/>
          <p:cNvSpPr/>
          <p:nvPr/>
        </p:nvSpPr>
        <p:spPr>
          <a:xfrm>
            <a:off x="4526280" y="2606040"/>
            <a:ext cx="2651760" cy="868680"/>
          </a:xfrm>
          <a:prstGeom prst="roundRect">
            <a:avLst>
              <a:gd name="adj" fmla="val 10526"/>
            </a:avLst>
          </a:prstGeom>
          <a:solidFill>
            <a:schemeClr val="bg1"/>
          </a:solidFill>
          <a:ln w="12700">
            <a:solidFill>
              <a:srgbClr val="D5F2E5"/>
            </a:solidFill>
            <a:prstDash val="solid"/>
          </a:ln>
        </p:spPr>
      </p:sp>
      <p:sp>
        <p:nvSpPr>
          <p:cNvPr id="13" name="Host branch node text"/>
          <p:cNvSpPr txBox="1"/>
          <p:nvPr/>
        </p:nvSpPr>
        <p:spPr>
          <a:xfrm>
            <a:off x="4709160" y="2715768"/>
            <a:ext cx="2286000" cy="658368"/>
          </a:xfrm>
          <a:prstGeom prst="rect">
            <a:avLst/>
          </a:prstGeom>
          <a:noFill/>
          <a:ln/>
        </p:spPr>
        <p:txBody>
          <a:bodyPr wrap="square" lIns="0" tIns="0" rIns="0" bIns="0" rtlCol="0" anchor="ctr"/>
          <a:lstStyle/>
          <a:p>
            <a:pPr indent="0" marL="0">
              <a:buNone/>
            </a:pPr>
            <a:r>
              <a:rPr lang="en-US" sz="1600" b="1" dirty="0">
                <a:solidFill>
                  <a:schemeClr val="tx1"/>
                </a:solidFill>
              </a:rPr>
              <a:t>Sohar</a:t>
            </a:r>
            <a:endParaRPr lang="en-US" sz="1600" dirty="0"/>
          </a:p>
          <a:p>
            <a:pPr indent="0" marL="0">
              <a:buNone/>
            </a:pPr>
            <a:r>
              <a:rPr lang="en-US" sz="1200" dirty="0">
                <a:solidFill>
                  <a:srgbClr val="475467"/>
                </a:solidFill>
              </a:rPr>
              <a:t>Covering branch</a:t>
            </a:r>
            <a:endParaRPr lang="en-US" sz="1600" dirty="0"/>
          </a:p>
        </p:txBody>
      </p:sp>
      <p:sp>
        <p:nvSpPr>
          <p:cNvPr id="14" name="Deployment step 1 circle"/>
          <p:cNvSpPr/>
          <p:nvPr/>
        </p:nvSpPr>
        <p:spPr>
          <a:xfrm>
            <a:off x="822960" y="3840480"/>
            <a:ext cx="438912" cy="438912"/>
          </a:xfrm>
          <a:prstGeom prst="ellipse">
            <a:avLst/>
          </a:prstGeom>
          <a:solidFill>
            <a:schemeClr val="bg1"/>
          </a:solidFill>
          <a:ln w="12700">
            <a:solidFill>
              <a:schemeClr val="bg1"/>
            </a:solidFill>
            <a:prstDash val="solid"/>
          </a:ln>
        </p:spPr>
      </p:sp>
      <p:pic>
        <p:nvPicPr>
          <p:cNvPr id="15" name="Deployment step 1 icon" descr="preencoded.png">    </p:cNvPr>
          <p:cNvPicPr>
            <a:picLocks noChangeAspect="1"/>
          </p:cNvPicPr>
          <p:nvPr/>
        </p:nvPicPr>
        <p:blipFill>
          <a:blip r:embed="rId2"/>
          <a:stretch>
            <a:fillRect/>
          </a:stretch>
        </p:blipFill>
        <p:spPr>
          <a:xfrm>
            <a:off x="928299" y="3945819"/>
            <a:ext cx="228234" cy="228234"/>
          </a:xfrm>
          <a:prstGeom prst="rect">
            <a:avLst/>
          </a:prstGeom>
        </p:spPr>
      </p:pic>
      <p:sp>
        <p:nvSpPr>
          <p:cNvPr id="16" name="Deployment step 1 text"/>
          <p:cNvSpPr txBox="1"/>
          <p:nvPr/>
        </p:nvSpPr>
        <p:spPr>
          <a:xfrm>
            <a:off x="822960" y="4370832"/>
            <a:ext cx="2011680" cy="777240"/>
          </a:xfrm>
          <a:prstGeom prst="rect">
            <a:avLst/>
          </a:prstGeom>
          <a:noFill/>
          <a:ln/>
        </p:spPr>
        <p:txBody>
          <a:bodyPr wrap="square" lIns="0" tIns="0" rIns="0" bIns="0" rtlCol="0" anchor="t"/>
          <a:lstStyle/>
          <a:p>
            <a:pPr indent="0" marL="0">
              <a:buNone/>
            </a:pPr>
            <a:r>
              <a:rPr lang="en-US" sz="1400" b="1" dirty="0">
                <a:solidFill>
                  <a:schemeClr val="tx1"/>
                </a:solidFill>
              </a:rPr>
              <a:t>Day one</a:t>
            </a:r>
            <a:endParaRPr lang="en-US" sz="1400" dirty="0"/>
          </a:p>
          <a:p>
            <a:pPr indent="0" marL="0">
              <a:buNone/>
            </a:pPr>
            <a:r>
              <a:rPr lang="en-US" sz="1200" dirty="0">
                <a:solidFill>
                  <a:srgbClr val="475467"/>
                </a:solidFill>
              </a:rPr>
              <a:t>Added to the Sohar terminals with ID, name and card</a:t>
            </a:r>
            <a:endParaRPr lang="en-US" sz="1400" dirty="0"/>
          </a:p>
        </p:txBody>
      </p:sp>
      <p:sp>
        <p:nvSpPr>
          <p:cNvPr id="17" name="Deployment step 2 circle"/>
          <p:cNvSpPr/>
          <p:nvPr/>
        </p:nvSpPr>
        <p:spPr>
          <a:xfrm>
            <a:off x="2999232" y="3840480"/>
            <a:ext cx="438912" cy="438912"/>
          </a:xfrm>
          <a:prstGeom prst="ellipse">
            <a:avLst/>
          </a:prstGeom>
          <a:solidFill>
            <a:schemeClr val="bg1"/>
          </a:solidFill>
          <a:ln w="12700">
            <a:solidFill>
              <a:schemeClr val="bg1"/>
            </a:solidFill>
            <a:prstDash val="solid"/>
          </a:ln>
        </p:spPr>
      </p:sp>
      <p:pic>
        <p:nvPicPr>
          <p:cNvPr id="18" name="Deployment step 2 icon" descr="preencoded.png">    </p:cNvPr>
          <p:cNvPicPr>
            <a:picLocks noChangeAspect="1"/>
          </p:cNvPicPr>
          <p:nvPr/>
        </p:nvPicPr>
        <p:blipFill>
          <a:blip r:embed="rId3"/>
          <a:stretch>
            <a:fillRect/>
          </a:stretch>
        </p:blipFill>
        <p:spPr>
          <a:xfrm>
            <a:off x="3104571" y="3945819"/>
            <a:ext cx="228234" cy="228234"/>
          </a:xfrm>
          <a:prstGeom prst="rect">
            <a:avLst/>
          </a:prstGeom>
        </p:spPr>
      </p:pic>
      <p:sp>
        <p:nvSpPr>
          <p:cNvPr id="19" name="Deployment step 2 text"/>
          <p:cNvSpPr txBox="1"/>
          <p:nvPr/>
        </p:nvSpPr>
        <p:spPr>
          <a:xfrm>
            <a:off x="2999232" y="4370832"/>
            <a:ext cx="2011680" cy="777240"/>
          </a:xfrm>
          <a:prstGeom prst="rect">
            <a:avLst/>
          </a:prstGeom>
          <a:noFill/>
          <a:ln/>
        </p:spPr>
        <p:txBody>
          <a:bodyPr wrap="square" lIns="0" tIns="0" rIns="0" bIns="0" rtlCol="0" anchor="t"/>
          <a:lstStyle/>
          <a:p>
            <a:pPr indent="0" marL="0">
              <a:buNone/>
            </a:pPr>
            <a:r>
              <a:rPr lang="en-US" sz="1400" b="1" dirty="0">
                <a:solidFill>
                  <a:schemeClr val="tx1"/>
                </a:solidFill>
              </a:rPr>
              <a:t>During</a:t>
            </a:r>
            <a:endParaRPr lang="en-US" sz="1400" dirty="0"/>
          </a:p>
          <a:p>
            <a:pPr indent="0" marL="0">
              <a:buNone/>
            </a:pPr>
            <a:r>
              <a:rPr lang="en-US" sz="1200" dirty="0">
                <a:solidFill>
                  <a:srgbClr val="475467"/>
                </a:solidFill>
              </a:rPr>
              <a:t>Card punches count; a fingerprint is enrolled once on site</a:t>
            </a:r>
            <a:endParaRPr lang="en-US" sz="1400" dirty="0"/>
          </a:p>
        </p:txBody>
      </p:sp>
      <p:sp>
        <p:nvSpPr>
          <p:cNvPr id="20" name="Deployment step 3 circle"/>
          <p:cNvSpPr/>
          <p:nvPr/>
        </p:nvSpPr>
        <p:spPr>
          <a:xfrm>
            <a:off x="5175504" y="3840480"/>
            <a:ext cx="438912" cy="438912"/>
          </a:xfrm>
          <a:prstGeom prst="ellipse">
            <a:avLst/>
          </a:prstGeom>
          <a:solidFill>
            <a:schemeClr val="bg1"/>
          </a:solidFill>
          <a:ln w="12700">
            <a:solidFill>
              <a:schemeClr val="bg1"/>
            </a:solidFill>
            <a:prstDash val="solid"/>
          </a:ln>
        </p:spPr>
      </p:sp>
      <p:pic>
        <p:nvPicPr>
          <p:cNvPr id="21" name="Deployment step 3 icon" descr="preencoded.png">    </p:cNvPr>
          <p:cNvPicPr>
            <a:picLocks noChangeAspect="1"/>
          </p:cNvPicPr>
          <p:nvPr/>
        </p:nvPicPr>
        <p:blipFill>
          <a:blip r:embed="rId4"/>
          <a:stretch>
            <a:fillRect/>
          </a:stretch>
        </p:blipFill>
        <p:spPr>
          <a:xfrm>
            <a:off x="5280843" y="3945819"/>
            <a:ext cx="228234" cy="228234"/>
          </a:xfrm>
          <a:prstGeom prst="rect">
            <a:avLst/>
          </a:prstGeom>
        </p:spPr>
      </p:pic>
      <p:sp>
        <p:nvSpPr>
          <p:cNvPr id="22" name="Deployment step 3 text"/>
          <p:cNvSpPr txBox="1"/>
          <p:nvPr/>
        </p:nvSpPr>
        <p:spPr>
          <a:xfrm>
            <a:off x="5175504" y="4370832"/>
            <a:ext cx="2011680" cy="777240"/>
          </a:xfrm>
          <a:prstGeom prst="rect">
            <a:avLst/>
          </a:prstGeom>
          <a:noFill/>
          <a:ln/>
        </p:spPr>
        <p:txBody>
          <a:bodyPr wrap="square" lIns="0" tIns="0" rIns="0" bIns="0" rtlCol="0" anchor="t"/>
          <a:lstStyle/>
          <a:p>
            <a:pPr indent="0" marL="0">
              <a:buNone/>
            </a:pPr>
            <a:r>
              <a:rPr lang="en-US" sz="1400" b="1" dirty="0">
                <a:solidFill>
                  <a:schemeClr val="tx1"/>
                </a:solidFill>
              </a:rPr>
              <a:t>After the last day</a:t>
            </a:r>
            <a:endParaRPr lang="en-US" sz="1400" dirty="0"/>
          </a:p>
          <a:p>
            <a:pPr indent="0" marL="0">
              <a:buNone/>
            </a:pPr>
            <a:r>
              <a:rPr lang="en-US" sz="1200" dirty="0">
                <a:solidFill>
                  <a:srgbClr val="475467"/>
                </a:solidFill>
              </a:rPr>
              <a:t>Removed from the Sohar terminals</a:t>
            </a:r>
            <a:endParaRPr lang="en-US" sz="1400" dirty="0"/>
          </a:p>
        </p:txBody>
      </p:sp>
      <p:sp>
        <p:nvSpPr>
          <p:cNvPr id="23" name="Deployment outcome"/>
          <p:cNvSpPr/>
          <p:nvPr/>
        </p:nvSpPr>
        <p:spPr>
          <a:xfrm>
            <a:off x="822960" y="5257800"/>
            <a:ext cx="6355080" cy="548640"/>
          </a:xfrm>
          <a:prstGeom prst="roundRect">
            <a:avLst>
              <a:gd name="adj" fmla="val 16667"/>
            </a:avLst>
          </a:prstGeom>
          <a:solidFill>
            <a:schemeClr val="accent1"/>
          </a:solidFill>
          <a:ln w="12700">
            <a:solidFill>
              <a:schemeClr val="accent1"/>
            </a:solidFill>
            <a:prstDash val="solid"/>
          </a:ln>
        </p:spPr>
      </p:sp>
      <p:sp>
        <p:nvSpPr>
          <p:cNvPr id="24" name="Deployment outcome text"/>
          <p:cNvSpPr txBox="1"/>
          <p:nvPr/>
        </p:nvSpPr>
        <p:spPr>
          <a:xfrm>
            <a:off x="1005840" y="5257800"/>
            <a:ext cx="6035040" cy="548640"/>
          </a:xfrm>
          <a:prstGeom prst="rect">
            <a:avLst/>
          </a:prstGeom>
          <a:noFill/>
          <a:ln/>
        </p:spPr>
        <p:txBody>
          <a:bodyPr wrap="square" lIns="0" tIns="0" rIns="0" bIns="0" rtlCol="0" anchor="ctr"/>
          <a:lstStyle/>
          <a:p>
            <a:pPr indent="0" marL="0">
              <a:buNone/>
            </a:pPr>
            <a:r>
              <a:rPr lang="en-US" sz="1400" b="1" dirty="0">
                <a:solidFill>
                  <a:schemeClr val="bg1"/>
                </a:solidFill>
              </a:rPr>
              <a:t>Shift, holidays and payroll stay with Muscat HQ</a:t>
            </a:r>
            <a:endParaRPr lang="en-US" sz="1400" dirty="0"/>
          </a:p>
        </p:txBody>
      </p:sp>
      <p:sp>
        <p:nvSpPr>
          <p:cNvPr id="25" name="Shift changes card"/>
          <p:cNvSpPr/>
          <p:nvPr/>
        </p:nvSpPr>
        <p:spPr>
          <a:xfrm>
            <a:off x="7726680" y="1371600"/>
            <a:ext cx="3886200" cy="2468880"/>
          </a:xfrm>
          <a:prstGeom prst="roundRect">
            <a:avLst>
              <a:gd name="adj" fmla="val 5185"/>
            </a:avLst>
          </a:prstGeom>
          <a:solidFill>
            <a:schemeClr val="bg2"/>
          </a:solidFill>
          <a:ln w="12700">
            <a:solidFill>
              <a:schemeClr val="bg2"/>
            </a:solidFill>
            <a:prstDash val="solid"/>
          </a:ln>
        </p:spPr>
      </p:sp>
      <p:sp>
        <p:nvSpPr>
          <p:cNvPr id="26" name="Shift changes circle"/>
          <p:cNvSpPr/>
          <p:nvPr/>
        </p:nvSpPr>
        <p:spPr>
          <a:xfrm>
            <a:off x="7955280" y="1600200"/>
            <a:ext cx="457200" cy="457200"/>
          </a:xfrm>
          <a:prstGeom prst="ellipse">
            <a:avLst/>
          </a:prstGeom>
          <a:solidFill>
            <a:schemeClr val="accent1"/>
          </a:solidFill>
          <a:ln w="12700">
            <a:solidFill>
              <a:schemeClr val="accent1"/>
            </a:solidFill>
            <a:prstDash val="solid"/>
          </a:ln>
        </p:spPr>
      </p:sp>
      <p:pic>
        <p:nvPicPr>
          <p:cNvPr id="27" name="Shift changes icon" descr="preencoded.png">    </p:cNvPr>
          <p:cNvPicPr>
            <a:picLocks noChangeAspect="1"/>
          </p:cNvPicPr>
          <p:nvPr/>
        </p:nvPicPr>
        <p:blipFill>
          <a:blip r:embed="rId5"/>
          <a:stretch>
            <a:fillRect/>
          </a:stretch>
        </p:blipFill>
        <p:spPr>
          <a:xfrm>
            <a:off x="8065008" y="1709928"/>
            <a:ext cx="237744" cy="237744"/>
          </a:xfrm>
          <a:prstGeom prst="rect">
            <a:avLst/>
          </a:prstGeom>
        </p:spPr>
      </p:pic>
      <p:sp>
        <p:nvSpPr>
          <p:cNvPr id="28" name="Shift changes title"/>
          <p:cNvSpPr txBox="1"/>
          <p:nvPr/>
        </p:nvSpPr>
        <p:spPr>
          <a:xfrm>
            <a:off x="8549640" y="1618488"/>
            <a:ext cx="2926080" cy="41148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Shift changes</a:t>
            </a:r>
            <a:endParaRPr lang="en-US" sz="1800" dirty="0"/>
          </a:p>
        </p:txBody>
      </p:sp>
      <p:sp>
        <p:nvSpPr>
          <p:cNvPr id="29" name="Shift changes points"/>
          <p:cNvSpPr txBox="1"/>
          <p:nvPr/>
        </p:nvSpPr>
        <p:spPr>
          <a:xfrm>
            <a:off x="7955280" y="2194560"/>
            <a:ext cx="3520440" cy="15544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344054"/>
                </a:solidFill>
              </a:rPr>
              <a:t>Effective from date and an optional last day</a:t>
            </a:r>
            <a:endParaRPr lang="en-US" sz="1400" dirty="0"/>
          </a:p>
          <a:p>
            <a:pPr marL="177800" indent="-177800">
              <a:spcAft>
                <a:spcPts val="700"/>
              </a:spcAft>
              <a:buSzPct val="100000"/>
              <a:buChar char="•"/>
            </a:pPr>
            <a:r>
              <a:rPr lang="en-US" sz="1400" dirty="0">
                <a:solidFill>
                  <a:srgbClr val="344054"/>
                </a:solidFill>
              </a:rPr>
              <a:t>Bulk change for many employees</a:t>
            </a:r>
            <a:endParaRPr lang="en-US" sz="1400" dirty="0"/>
          </a:p>
          <a:p>
            <a:pPr marL="177800" indent="-177800">
              <a:spcAft>
                <a:spcPts val="700"/>
              </a:spcAft>
              <a:buSzPct val="100000"/>
              <a:buChar char="•"/>
            </a:pPr>
            <a:r>
              <a:rPr lang="en-US" sz="1400" dirty="0">
                <a:solidFill>
                  <a:srgbClr val="344054"/>
                </a:solidFill>
              </a:rPr>
              <a:t>Employees request changes from their portal</a:t>
            </a:r>
            <a:endParaRPr lang="en-US" sz="1400" dirty="0"/>
          </a:p>
          <a:p>
            <a:pPr marL="177800" indent="-177800">
              <a:spcAft>
                <a:spcPts val="700"/>
              </a:spcAft>
              <a:buSzPct val="100000"/>
              <a:buChar char="•"/>
            </a:pPr>
            <a:r>
              <a:rPr lang="en-US" sz="1400" dirty="0">
                <a:solidFill>
                  <a:srgbClr val="344054"/>
                </a:solidFill>
              </a:rPr>
              <a:t>Past days are recalculated automatically</a:t>
            </a:r>
            <a:endParaRPr lang="en-US" sz="1400" dirty="0"/>
          </a:p>
        </p:txBody>
      </p:sp>
      <p:sp>
        <p:nvSpPr>
          <p:cNvPr id="30" name="Shift swaps card"/>
          <p:cNvSpPr/>
          <p:nvPr/>
        </p:nvSpPr>
        <p:spPr>
          <a:xfrm>
            <a:off x="7726680" y="3977640"/>
            <a:ext cx="3886200" cy="2103120"/>
          </a:xfrm>
          <a:prstGeom prst="roundRect">
            <a:avLst>
              <a:gd name="adj" fmla="val 6087"/>
            </a:avLst>
          </a:prstGeom>
          <a:solidFill>
            <a:schemeClr val="bg2"/>
          </a:solidFill>
          <a:ln w="12700">
            <a:solidFill>
              <a:schemeClr val="bg2"/>
            </a:solidFill>
            <a:prstDash val="solid"/>
          </a:ln>
        </p:spPr>
      </p:sp>
      <p:sp>
        <p:nvSpPr>
          <p:cNvPr id="31" name="Shift swaps circle"/>
          <p:cNvSpPr/>
          <p:nvPr/>
        </p:nvSpPr>
        <p:spPr>
          <a:xfrm>
            <a:off x="7955280" y="4206240"/>
            <a:ext cx="457200" cy="457200"/>
          </a:xfrm>
          <a:prstGeom prst="ellipse">
            <a:avLst/>
          </a:prstGeom>
          <a:solidFill>
            <a:schemeClr val="accent1"/>
          </a:solidFill>
          <a:ln w="12700">
            <a:solidFill>
              <a:schemeClr val="accent1"/>
            </a:solidFill>
            <a:prstDash val="solid"/>
          </a:ln>
        </p:spPr>
      </p:sp>
      <p:pic>
        <p:nvPicPr>
          <p:cNvPr id="32" name="Shift swaps icon" descr="preencoded.png">    </p:cNvPr>
          <p:cNvPicPr>
            <a:picLocks noChangeAspect="1"/>
          </p:cNvPicPr>
          <p:nvPr/>
        </p:nvPicPr>
        <p:blipFill>
          <a:blip r:embed="rId6"/>
          <a:stretch>
            <a:fillRect/>
          </a:stretch>
        </p:blipFill>
        <p:spPr>
          <a:xfrm>
            <a:off x="8065008" y="4315968"/>
            <a:ext cx="237744" cy="237744"/>
          </a:xfrm>
          <a:prstGeom prst="rect">
            <a:avLst/>
          </a:prstGeom>
        </p:spPr>
      </p:pic>
      <p:sp>
        <p:nvSpPr>
          <p:cNvPr id="33" name="Shift swaps title"/>
          <p:cNvSpPr txBox="1"/>
          <p:nvPr/>
        </p:nvSpPr>
        <p:spPr>
          <a:xfrm>
            <a:off x="8549640" y="4224528"/>
            <a:ext cx="2926080" cy="41148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Shift swaps</a:t>
            </a:r>
            <a:endParaRPr lang="en-US" sz="1800" dirty="0"/>
          </a:p>
        </p:txBody>
      </p:sp>
      <p:sp>
        <p:nvSpPr>
          <p:cNvPr id="34" name="Shift swaps points"/>
          <p:cNvSpPr txBox="1"/>
          <p:nvPr/>
        </p:nvSpPr>
        <p:spPr>
          <a:xfrm>
            <a:off x="7955280" y="4800600"/>
            <a:ext cx="3520440" cy="118872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344054"/>
                </a:solidFill>
              </a:rPr>
              <a:t>Employee picks the day and a colleague</a:t>
            </a:r>
            <a:endParaRPr lang="en-US" sz="1400" dirty="0"/>
          </a:p>
          <a:p>
            <a:pPr marL="177800" indent="-177800">
              <a:spcAft>
                <a:spcPts val="700"/>
              </a:spcAft>
              <a:buSzPct val="100000"/>
              <a:buChar char="•"/>
            </a:pPr>
            <a:r>
              <a:rPr lang="en-US" sz="1400" dirty="0">
                <a:solidFill>
                  <a:srgbClr val="344054"/>
                </a:solidFill>
              </a:rPr>
              <a:t>The line manager approves in the inbox</a:t>
            </a:r>
            <a:endParaRPr lang="en-US" sz="1400" dirty="0"/>
          </a:p>
          <a:p>
            <a:pPr marL="177800" indent="-177800">
              <a:spcAft>
                <a:spcPts val="700"/>
              </a:spcAft>
              <a:buSzPct val="100000"/>
              <a:buChar char="•"/>
            </a:pPr>
            <a:r>
              <a:rPr lang="en-US" sz="1400" dirty="0">
                <a:solidFill>
                  <a:srgbClr val="344054"/>
                </a:solidFill>
              </a:rPr>
              <a:t>Both schedules change for that day only</a:t>
            </a:r>
            <a:endParaRPr lang="en-US" sz="1400" dirty="0"/>
          </a:p>
        </p:txBody>
      </p:sp>
      <p:sp>
        <p:nvSpPr>
          <p:cNvPr id="25" name="Slide Number Placeholder 0"/>
          <p:cNvSpPr>
            <a:spLocks noGrp="1"/>
          </p:cNvSpPr>
          <p:nvPr>
            <p:ph type="sldNum" sz="quarter" idx="4294967295"/>
          </p:nvPr>
        </p:nvSpPr>
        <p:spPr>
          <a:xfrm>
            <a:off x="11292840" y="6355080"/>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670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600" b="1" dirty="0">
                <a:solidFill>
                  <a:schemeClr val="tx1"/>
                </a:solidFill>
              </a:rPr>
              <a:t>Leave and line-manager approvals</a:t>
            </a:r>
            <a:endParaRPr lang="en-US" sz="3600" dirty="0"/>
          </a:p>
        </p:txBody>
      </p:sp>
      <p:sp>
        <p:nvSpPr>
          <p:cNvPr id="3" name="Leave card"/>
          <p:cNvSpPr/>
          <p:nvPr/>
        </p:nvSpPr>
        <p:spPr>
          <a:xfrm>
            <a:off x="548640" y="1371600"/>
            <a:ext cx="4937760" cy="4709160"/>
          </a:xfrm>
          <a:prstGeom prst="roundRect">
            <a:avLst>
              <a:gd name="adj" fmla="val 2718"/>
            </a:avLst>
          </a:prstGeom>
          <a:solidFill>
            <a:schemeClr val="bg2"/>
          </a:solidFill>
          <a:ln w="12700">
            <a:solidFill>
              <a:schemeClr val="bg2"/>
            </a:solidFill>
            <a:prstDash val="solid"/>
          </a:ln>
        </p:spPr>
      </p:sp>
      <p:sp>
        <p:nvSpPr>
          <p:cNvPr id="4" name="Leave circle"/>
          <p:cNvSpPr/>
          <p:nvPr/>
        </p:nvSpPr>
        <p:spPr>
          <a:xfrm>
            <a:off x="822960" y="1645920"/>
            <a:ext cx="566928" cy="566928"/>
          </a:xfrm>
          <a:prstGeom prst="ellipse">
            <a:avLst/>
          </a:prstGeom>
          <a:solidFill>
            <a:schemeClr val="accent1"/>
          </a:solidFill>
          <a:ln w="12700">
            <a:solidFill>
              <a:schemeClr val="accent1"/>
            </a:solidFill>
            <a:prstDash val="solid"/>
          </a:ln>
        </p:spPr>
      </p:sp>
      <p:pic>
        <p:nvPicPr>
          <p:cNvPr id="5" name="Leave icon" descr="preencoded.png">    </p:cNvPr>
          <p:cNvPicPr>
            <a:picLocks noChangeAspect="1"/>
          </p:cNvPicPr>
          <p:nvPr/>
        </p:nvPicPr>
        <p:blipFill>
          <a:blip r:embed="rId1"/>
          <a:stretch>
            <a:fillRect/>
          </a:stretch>
        </p:blipFill>
        <p:spPr>
          <a:xfrm>
            <a:off x="959023" y="1781983"/>
            <a:ext cx="294803" cy="294803"/>
          </a:xfrm>
          <a:prstGeom prst="rect">
            <a:avLst/>
          </a:prstGeom>
        </p:spPr>
      </p:pic>
      <p:sp>
        <p:nvSpPr>
          <p:cNvPr id="6" name="Leave title"/>
          <p:cNvSpPr txBox="1"/>
          <p:nvPr/>
        </p:nvSpPr>
        <p:spPr>
          <a:xfrm>
            <a:off x="1554480" y="1673352"/>
            <a:ext cx="3657600" cy="50292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Leave management</a:t>
            </a:r>
            <a:endParaRPr lang="en-US" sz="2000" dirty="0"/>
          </a:p>
        </p:txBody>
      </p:sp>
      <p:sp>
        <p:nvSpPr>
          <p:cNvPr id="7" name="Leave type Annual"/>
          <p:cNvSpPr/>
          <p:nvPr/>
        </p:nvSpPr>
        <p:spPr>
          <a:xfrm>
            <a:off x="822960" y="2423160"/>
            <a:ext cx="1371600" cy="347472"/>
          </a:xfrm>
          <a:prstGeom prst="roundRect">
            <a:avLst>
              <a:gd name="adj" fmla="val 50000"/>
            </a:avLst>
          </a:prstGeom>
          <a:solidFill>
            <a:schemeClr val="bg1"/>
          </a:solidFill>
          <a:ln w="12700">
            <a:solidFill>
              <a:srgbClr val="AEE4CD"/>
            </a:solidFill>
            <a:prstDash val="solid"/>
          </a:ln>
        </p:spPr>
      </p:sp>
      <p:sp>
        <p:nvSpPr>
          <p:cNvPr id="8" name="Leave type Annual label"/>
          <p:cNvSpPr txBox="1"/>
          <p:nvPr/>
        </p:nvSpPr>
        <p:spPr>
          <a:xfrm>
            <a:off x="822960" y="2423160"/>
            <a:ext cx="1371600" cy="347472"/>
          </a:xfrm>
          <a:prstGeom prst="rect">
            <a:avLst/>
          </a:prstGeom>
          <a:noFill/>
          <a:ln/>
        </p:spPr>
        <p:txBody>
          <a:bodyPr wrap="square" lIns="0" tIns="0" rIns="0" bIns="0" rtlCol="0" anchor="ctr"/>
          <a:lstStyle/>
          <a:p>
            <a:pPr algn="ctr" indent="0" marL="0">
              <a:buNone/>
            </a:pPr>
            <a:r>
              <a:rPr lang="en-US" sz="1200" b="1" dirty="0">
                <a:solidFill>
                  <a:schemeClr val="accent1"/>
                </a:solidFill>
              </a:rPr>
              <a:t>Annual</a:t>
            </a:r>
            <a:endParaRPr lang="en-US" sz="1200" dirty="0"/>
          </a:p>
        </p:txBody>
      </p:sp>
      <p:sp>
        <p:nvSpPr>
          <p:cNvPr id="9" name="Leave type Sick"/>
          <p:cNvSpPr/>
          <p:nvPr/>
        </p:nvSpPr>
        <p:spPr>
          <a:xfrm>
            <a:off x="2304288" y="2423160"/>
            <a:ext cx="1371600" cy="347472"/>
          </a:xfrm>
          <a:prstGeom prst="roundRect">
            <a:avLst>
              <a:gd name="adj" fmla="val 50000"/>
            </a:avLst>
          </a:prstGeom>
          <a:solidFill>
            <a:schemeClr val="bg1"/>
          </a:solidFill>
          <a:ln w="12700">
            <a:solidFill>
              <a:srgbClr val="AEE4CD"/>
            </a:solidFill>
            <a:prstDash val="solid"/>
          </a:ln>
        </p:spPr>
      </p:sp>
      <p:sp>
        <p:nvSpPr>
          <p:cNvPr id="10" name="Leave type Sick label"/>
          <p:cNvSpPr txBox="1"/>
          <p:nvPr/>
        </p:nvSpPr>
        <p:spPr>
          <a:xfrm>
            <a:off x="2304288" y="2423160"/>
            <a:ext cx="1371600" cy="347472"/>
          </a:xfrm>
          <a:prstGeom prst="rect">
            <a:avLst/>
          </a:prstGeom>
          <a:noFill/>
          <a:ln/>
        </p:spPr>
        <p:txBody>
          <a:bodyPr wrap="square" lIns="0" tIns="0" rIns="0" bIns="0" rtlCol="0" anchor="ctr"/>
          <a:lstStyle/>
          <a:p>
            <a:pPr algn="ctr" indent="0" marL="0">
              <a:buNone/>
            </a:pPr>
            <a:r>
              <a:rPr lang="en-US" sz="1200" b="1" dirty="0">
                <a:solidFill>
                  <a:schemeClr val="accent1"/>
                </a:solidFill>
              </a:rPr>
              <a:t>Sick</a:t>
            </a:r>
            <a:endParaRPr lang="en-US" sz="1200" dirty="0"/>
          </a:p>
        </p:txBody>
      </p:sp>
      <p:sp>
        <p:nvSpPr>
          <p:cNvPr id="11" name="Leave type Casual"/>
          <p:cNvSpPr/>
          <p:nvPr/>
        </p:nvSpPr>
        <p:spPr>
          <a:xfrm>
            <a:off x="3785616" y="2423160"/>
            <a:ext cx="1371600" cy="347472"/>
          </a:xfrm>
          <a:prstGeom prst="roundRect">
            <a:avLst>
              <a:gd name="adj" fmla="val 50000"/>
            </a:avLst>
          </a:prstGeom>
          <a:solidFill>
            <a:schemeClr val="bg1"/>
          </a:solidFill>
          <a:ln w="12700">
            <a:solidFill>
              <a:srgbClr val="AEE4CD"/>
            </a:solidFill>
            <a:prstDash val="solid"/>
          </a:ln>
        </p:spPr>
      </p:sp>
      <p:sp>
        <p:nvSpPr>
          <p:cNvPr id="12" name="Leave type Casual label"/>
          <p:cNvSpPr txBox="1"/>
          <p:nvPr/>
        </p:nvSpPr>
        <p:spPr>
          <a:xfrm>
            <a:off x="3785616" y="2423160"/>
            <a:ext cx="1371600" cy="347472"/>
          </a:xfrm>
          <a:prstGeom prst="rect">
            <a:avLst/>
          </a:prstGeom>
          <a:noFill/>
          <a:ln/>
        </p:spPr>
        <p:txBody>
          <a:bodyPr wrap="square" lIns="0" tIns="0" rIns="0" bIns="0" rtlCol="0" anchor="ctr"/>
          <a:lstStyle/>
          <a:p>
            <a:pPr algn="ctr" indent="0" marL="0">
              <a:buNone/>
            </a:pPr>
            <a:r>
              <a:rPr lang="en-US" sz="1200" b="1" dirty="0">
                <a:solidFill>
                  <a:schemeClr val="accent1"/>
                </a:solidFill>
              </a:rPr>
              <a:t>Casual</a:t>
            </a:r>
            <a:endParaRPr lang="en-US" sz="1200" dirty="0"/>
          </a:p>
        </p:txBody>
      </p:sp>
      <p:sp>
        <p:nvSpPr>
          <p:cNvPr id="13" name="Leave type Emergency"/>
          <p:cNvSpPr/>
          <p:nvPr/>
        </p:nvSpPr>
        <p:spPr>
          <a:xfrm>
            <a:off x="822960" y="2880360"/>
            <a:ext cx="1371600" cy="347472"/>
          </a:xfrm>
          <a:prstGeom prst="roundRect">
            <a:avLst>
              <a:gd name="adj" fmla="val 50000"/>
            </a:avLst>
          </a:prstGeom>
          <a:solidFill>
            <a:schemeClr val="bg1"/>
          </a:solidFill>
          <a:ln w="12700">
            <a:solidFill>
              <a:srgbClr val="AEE4CD"/>
            </a:solidFill>
            <a:prstDash val="solid"/>
          </a:ln>
        </p:spPr>
      </p:sp>
      <p:sp>
        <p:nvSpPr>
          <p:cNvPr id="14" name="Leave type Emergency label"/>
          <p:cNvSpPr txBox="1"/>
          <p:nvPr/>
        </p:nvSpPr>
        <p:spPr>
          <a:xfrm>
            <a:off x="822960" y="2880360"/>
            <a:ext cx="1371600" cy="347472"/>
          </a:xfrm>
          <a:prstGeom prst="rect">
            <a:avLst/>
          </a:prstGeom>
          <a:noFill/>
          <a:ln/>
        </p:spPr>
        <p:txBody>
          <a:bodyPr wrap="square" lIns="0" tIns="0" rIns="0" bIns="0" rtlCol="0" anchor="ctr"/>
          <a:lstStyle/>
          <a:p>
            <a:pPr algn="ctr" indent="0" marL="0">
              <a:buNone/>
            </a:pPr>
            <a:r>
              <a:rPr lang="en-US" sz="1200" b="1" dirty="0">
                <a:solidFill>
                  <a:schemeClr val="accent1"/>
                </a:solidFill>
              </a:rPr>
              <a:t>Emergency</a:t>
            </a:r>
            <a:endParaRPr lang="en-US" sz="1200" dirty="0"/>
          </a:p>
        </p:txBody>
      </p:sp>
      <p:sp>
        <p:nvSpPr>
          <p:cNvPr id="15" name="Leave type Maternity"/>
          <p:cNvSpPr/>
          <p:nvPr/>
        </p:nvSpPr>
        <p:spPr>
          <a:xfrm>
            <a:off x="2304288" y="2880360"/>
            <a:ext cx="1371600" cy="347472"/>
          </a:xfrm>
          <a:prstGeom prst="roundRect">
            <a:avLst>
              <a:gd name="adj" fmla="val 50000"/>
            </a:avLst>
          </a:prstGeom>
          <a:solidFill>
            <a:schemeClr val="bg1"/>
          </a:solidFill>
          <a:ln w="12700">
            <a:solidFill>
              <a:srgbClr val="AEE4CD"/>
            </a:solidFill>
            <a:prstDash val="solid"/>
          </a:ln>
        </p:spPr>
      </p:sp>
      <p:sp>
        <p:nvSpPr>
          <p:cNvPr id="16" name="Leave type Maternity label"/>
          <p:cNvSpPr txBox="1"/>
          <p:nvPr/>
        </p:nvSpPr>
        <p:spPr>
          <a:xfrm>
            <a:off x="2304288" y="2880360"/>
            <a:ext cx="1371600" cy="347472"/>
          </a:xfrm>
          <a:prstGeom prst="rect">
            <a:avLst/>
          </a:prstGeom>
          <a:noFill/>
          <a:ln/>
        </p:spPr>
        <p:txBody>
          <a:bodyPr wrap="square" lIns="0" tIns="0" rIns="0" bIns="0" rtlCol="0" anchor="ctr"/>
          <a:lstStyle/>
          <a:p>
            <a:pPr algn="ctr" indent="0" marL="0">
              <a:buNone/>
            </a:pPr>
            <a:r>
              <a:rPr lang="en-US" sz="1200" b="1" dirty="0">
                <a:solidFill>
                  <a:schemeClr val="accent1"/>
                </a:solidFill>
              </a:rPr>
              <a:t>Maternity</a:t>
            </a:r>
            <a:endParaRPr lang="en-US" sz="1200" dirty="0"/>
          </a:p>
        </p:txBody>
      </p:sp>
      <p:sp>
        <p:nvSpPr>
          <p:cNvPr id="17" name="Leave type No pay"/>
          <p:cNvSpPr/>
          <p:nvPr/>
        </p:nvSpPr>
        <p:spPr>
          <a:xfrm>
            <a:off x="3785616" y="2880360"/>
            <a:ext cx="1371600" cy="347472"/>
          </a:xfrm>
          <a:prstGeom prst="roundRect">
            <a:avLst>
              <a:gd name="adj" fmla="val 50000"/>
            </a:avLst>
          </a:prstGeom>
          <a:solidFill>
            <a:schemeClr val="bg1"/>
          </a:solidFill>
          <a:ln w="12700">
            <a:solidFill>
              <a:srgbClr val="AEE4CD"/>
            </a:solidFill>
            <a:prstDash val="solid"/>
          </a:ln>
        </p:spPr>
      </p:sp>
      <p:sp>
        <p:nvSpPr>
          <p:cNvPr id="18" name="Leave type No pay label"/>
          <p:cNvSpPr txBox="1"/>
          <p:nvPr/>
        </p:nvSpPr>
        <p:spPr>
          <a:xfrm>
            <a:off x="3785616" y="2880360"/>
            <a:ext cx="1371600" cy="347472"/>
          </a:xfrm>
          <a:prstGeom prst="rect">
            <a:avLst/>
          </a:prstGeom>
          <a:noFill/>
          <a:ln/>
        </p:spPr>
        <p:txBody>
          <a:bodyPr wrap="square" lIns="0" tIns="0" rIns="0" bIns="0" rtlCol="0" anchor="ctr"/>
          <a:lstStyle/>
          <a:p>
            <a:pPr algn="ctr" indent="0" marL="0">
              <a:buNone/>
            </a:pPr>
            <a:r>
              <a:rPr lang="en-US" sz="1200" b="1" dirty="0">
                <a:solidFill>
                  <a:schemeClr val="accent1"/>
                </a:solidFill>
              </a:rPr>
              <a:t>No pay</a:t>
            </a:r>
            <a:endParaRPr lang="en-US" sz="1200" dirty="0"/>
          </a:p>
        </p:txBody>
      </p:sp>
      <p:sp>
        <p:nvSpPr>
          <p:cNvPr id="19" name="Leave points"/>
          <p:cNvSpPr txBox="1"/>
          <p:nvPr/>
        </p:nvSpPr>
        <p:spPr>
          <a:xfrm>
            <a:off x="822960" y="3520440"/>
            <a:ext cx="4434840" cy="23774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344054"/>
                </a:solidFill>
              </a:rPr>
              <a:t>Yearly days, monthly accrual and carry forward</a:t>
            </a:r>
            <a:endParaRPr lang="en-US" sz="1400" dirty="0"/>
          </a:p>
          <a:p>
            <a:pPr marL="177800" indent="-177800">
              <a:spcAft>
                <a:spcPts val="700"/>
              </a:spcAft>
              <a:buSzPct val="100000"/>
              <a:buChar char="•"/>
            </a:pPr>
            <a:r>
              <a:rPr lang="en-US" sz="1400" dirty="0">
                <a:solidFill>
                  <a:srgbClr val="344054"/>
                </a:solidFill>
              </a:rPr>
              <a:t>Employees apply from the portal and see their balance first</a:t>
            </a:r>
            <a:endParaRPr lang="en-US" sz="1400" dirty="0"/>
          </a:p>
          <a:p>
            <a:pPr marL="177800" indent="-177800">
              <a:spcAft>
                <a:spcPts val="700"/>
              </a:spcAft>
              <a:buSzPct val="100000"/>
              <a:buChar char="•"/>
            </a:pPr>
            <a:r>
              <a:rPr lang="en-US" sz="1400" dirty="0">
                <a:solidFill>
                  <a:srgbClr val="344054"/>
                </a:solidFill>
              </a:rPr>
              <a:t>Approved leave shows on the team calendar</a:t>
            </a:r>
            <a:endParaRPr lang="en-US" sz="1400" dirty="0"/>
          </a:p>
          <a:p>
            <a:pPr marL="177800" indent="-177800">
              <a:spcAft>
                <a:spcPts val="700"/>
              </a:spcAft>
              <a:buSzPct val="100000"/>
              <a:buChar char="•"/>
            </a:pPr>
            <a:r>
              <a:rPr lang="en-US" sz="1400" dirty="0">
                <a:solidFill>
                  <a:srgbClr val="344054"/>
                </a:solidFill>
              </a:rPr>
              <a:t>Days on leave are never marked absent</a:t>
            </a:r>
            <a:endParaRPr lang="en-US" sz="1400" dirty="0"/>
          </a:p>
        </p:txBody>
      </p:sp>
      <p:sp>
        <p:nvSpPr>
          <p:cNvPr id="20" name="Approvals title"/>
          <p:cNvSpPr txBox="1"/>
          <p:nvPr/>
        </p:nvSpPr>
        <p:spPr>
          <a:xfrm>
            <a:off x="5852160" y="1371600"/>
            <a:ext cx="5760720" cy="41148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Every request goes to the right person</a:t>
            </a:r>
            <a:endParaRPr lang="en-US" sz="2000" dirty="0"/>
          </a:p>
        </p:txBody>
      </p:sp>
      <p:sp>
        <p:nvSpPr>
          <p:cNvPr id="21" name="Flow Request circle"/>
          <p:cNvSpPr/>
          <p:nvPr/>
        </p:nvSpPr>
        <p:spPr>
          <a:xfrm>
            <a:off x="6172200" y="1965960"/>
            <a:ext cx="566928" cy="566928"/>
          </a:xfrm>
          <a:prstGeom prst="ellipse">
            <a:avLst/>
          </a:prstGeom>
          <a:solidFill>
            <a:schemeClr val="accent1"/>
          </a:solidFill>
          <a:ln w="12700">
            <a:solidFill>
              <a:schemeClr val="accent1"/>
            </a:solidFill>
            <a:prstDash val="solid"/>
          </a:ln>
        </p:spPr>
      </p:sp>
      <p:pic>
        <p:nvPicPr>
          <p:cNvPr id="22" name="Flow Request icon" descr="preencoded.png">    </p:cNvPr>
          <p:cNvPicPr>
            <a:picLocks noChangeAspect="1"/>
          </p:cNvPicPr>
          <p:nvPr/>
        </p:nvPicPr>
        <p:blipFill>
          <a:blip r:embed="rId2"/>
          <a:stretch>
            <a:fillRect/>
          </a:stretch>
        </p:blipFill>
        <p:spPr>
          <a:xfrm>
            <a:off x="6308263" y="2102023"/>
            <a:ext cx="294803" cy="294803"/>
          </a:xfrm>
          <a:prstGeom prst="rect">
            <a:avLst/>
          </a:prstGeom>
        </p:spPr>
      </p:pic>
      <p:sp>
        <p:nvSpPr>
          <p:cNvPr id="23" name="Flow Request text"/>
          <p:cNvSpPr txBox="1"/>
          <p:nvPr/>
        </p:nvSpPr>
        <p:spPr>
          <a:xfrm>
            <a:off x="5852160" y="2606040"/>
            <a:ext cx="1234440" cy="640080"/>
          </a:xfrm>
          <a:prstGeom prst="rect">
            <a:avLst/>
          </a:prstGeom>
          <a:noFill/>
          <a:ln/>
        </p:spPr>
        <p:txBody>
          <a:bodyPr wrap="square" lIns="0" tIns="0" rIns="0" bIns="0" rtlCol="0" anchor="t"/>
          <a:lstStyle/>
          <a:p>
            <a:pPr algn="ctr" indent="0" marL="0">
              <a:buNone/>
            </a:pPr>
            <a:r>
              <a:rPr lang="en-US" sz="1400" b="1" dirty="0">
                <a:solidFill>
                  <a:schemeClr val="tx1"/>
                </a:solidFill>
              </a:rPr>
              <a:t>Request</a:t>
            </a:r>
            <a:endParaRPr lang="en-US" sz="1400" dirty="0"/>
          </a:p>
          <a:p>
            <a:pPr algn="ctr" indent="0" marL="0">
              <a:buNone/>
            </a:pPr>
            <a:r>
              <a:rPr lang="en-US" sz="1200" dirty="0">
                <a:solidFill>
                  <a:srgbClr val="475467"/>
                </a:solidFill>
              </a:rPr>
              <a:t>Employee submits</a:t>
            </a:r>
            <a:endParaRPr lang="en-US" sz="1400" dirty="0"/>
          </a:p>
        </p:txBody>
      </p:sp>
      <p:sp>
        <p:nvSpPr>
          <p:cNvPr id="24" name="Flow arrow 1"/>
          <p:cNvSpPr/>
          <p:nvPr/>
        </p:nvSpPr>
        <p:spPr>
          <a:xfrm>
            <a:off x="6839712" y="2249424"/>
            <a:ext cx="685800" cy="0"/>
          </a:xfrm>
          <a:prstGeom prst="line">
            <a:avLst/>
          </a:prstGeom>
          <a:noFill/>
          <a:ln w="25400">
            <a:solidFill>
              <a:srgbClr val="AEE4CD"/>
            </a:solidFill>
            <a:prstDash val="solid"/>
            <a:tailEnd type="triangle"/>
          </a:ln>
        </p:spPr>
      </p:sp>
      <p:sp>
        <p:nvSpPr>
          <p:cNvPr id="25" name="Flow Level 1 circle"/>
          <p:cNvSpPr/>
          <p:nvPr/>
        </p:nvSpPr>
        <p:spPr>
          <a:xfrm>
            <a:off x="7635240" y="1965960"/>
            <a:ext cx="566928" cy="566928"/>
          </a:xfrm>
          <a:prstGeom prst="ellipse">
            <a:avLst/>
          </a:prstGeom>
          <a:solidFill>
            <a:schemeClr val="accent1"/>
          </a:solidFill>
          <a:ln w="12700">
            <a:solidFill>
              <a:schemeClr val="accent1"/>
            </a:solidFill>
            <a:prstDash val="solid"/>
          </a:ln>
        </p:spPr>
      </p:sp>
      <p:pic>
        <p:nvPicPr>
          <p:cNvPr id="26" name="Flow Level 1 icon" descr="preencoded.png">    </p:cNvPr>
          <p:cNvPicPr>
            <a:picLocks noChangeAspect="1"/>
          </p:cNvPicPr>
          <p:nvPr/>
        </p:nvPicPr>
        <p:blipFill>
          <a:blip r:embed="rId3"/>
          <a:stretch>
            <a:fillRect/>
          </a:stretch>
        </p:blipFill>
        <p:spPr>
          <a:xfrm>
            <a:off x="7771303" y="2102023"/>
            <a:ext cx="294803" cy="294803"/>
          </a:xfrm>
          <a:prstGeom prst="rect">
            <a:avLst/>
          </a:prstGeom>
        </p:spPr>
      </p:pic>
      <p:sp>
        <p:nvSpPr>
          <p:cNvPr id="27" name="Flow Level 1 text"/>
          <p:cNvSpPr txBox="1"/>
          <p:nvPr/>
        </p:nvSpPr>
        <p:spPr>
          <a:xfrm>
            <a:off x="7315200" y="2606040"/>
            <a:ext cx="1234440" cy="640080"/>
          </a:xfrm>
          <a:prstGeom prst="rect">
            <a:avLst/>
          </a:prstGeom>
          <a:noFill/>
          <a:ln/>
        </p:spPr>
        <p:txBody>
          <a:bodyPr wrap="square" lIns="0" tIns="0" rIns="0" bIns="0" rtlCol="0" anchor="t"/>
          <a:lstStyle/>
          <a:p>
            <a:pPr algn="ctr" indent="0" marL="0">
              <a:buNone/>
            </a:pPr>
            <a:r>
              <a:rPr lang="en-US" sz="1400" b="1" dirty="0">
                <a:solidFill>
                  <a:schemeClr val="tx1"/>
                </a:solidFill>
              </a:rPr>
              <a:t>Level 1</a:t>
            </a:r>
            <a:endParaRPr lang="en-US" sz="1400" dirty="0"/>
          </a:p>
          <a:p>
            <a:pPr algn="ctr" indent="0" marL="0">
              <a:buNone/>
            </a:pPr>
            <a:r>
              <a:rPr lang="en-US" sz="1200" dirty="0">
                <a:solidFill>
                  <a:srgbClr val="475467"/>
                </a:solidFill>
              </a:rPr>
              <a:t>Line manager</a:t>
            </a:r>
            <a:endParaRPr lang="en-US" sz="1400" dirty="0"/>
          </a:p>
        </p:txBody>
      </p:sp>
      <p:sp>
        <p:nvSpPr>
          <p:cNvPr id="28" name="Flow arrow 2"/>
          <p:cNvSpPr/>
          <p:nvPr/>
        </p:nvSpPr>
        <p:spPr>
          <a:xfrm>
            <a:off x="8302752" y="2249424"/>
            <a:ext cx="685800" cy="0"/>
          </a:xfrm>
          <a:prstGeom prst="line">
            <a:avLst/>
          </a:prstGeom>
          <a:noFill/>
          <a:ln w="25400">
            <a:solidFill>
              <a:srgbClr val="AEE4CD"/>
            </a:solidFill>
            <a:prstDash val="solid"/>
            <a:tailEnd type="triangle"/>
          </a:ln>
        </p:spPr>
      </p:sp>
      <p:sp>
        <p:nvSpPr>
          <p:cNvPr id="29" name="Flow Level 2 circle"/>
          <p:cNvSpPr/>
          <p:nvPr/>
        </p:nvSpPr>
        <p:spPr>
          <a:xfrm>
            <a:off x="9098280" y="1965960"/>
            <a:ext cx="566928" cy="566928"/>
          </a:xfrm>
          <a:prstGeom prst="ellipse">
            <a:avLst/>
          </a:prstGeom>
          <a:solidFill>
            <a:schemeClr val="accent1"/>
          </a:solidFill>
          <a:ln w="12700">
            <a:solidFill>
              <a:schemeClr val="accent1"/>
            </a:solidFill>
            <a:prstDash val="solid"/>
          </a:ln>
        </p:spPr>
      </p:sp>
      <p:pic>
        <p:nvPicPr>
          <p:cNvPr id="30" name="Flow Level 2 icon" descr="preencoded.png">    </p:cNvPr>
          <p:cNvPicPr>
            <a:picLocks noChangeAspect="1"/>
          </p:cNvPicPr>
          <p:nvPr/>
        </p:nvPicPr>
        <p:blipFill>
          <a:blip r:embed="rId4"/>
          <a:stretch>
            <a:fillRect/>
          </a:stretch>
        </p:blipFill>
        <p:spPr>
          <a:xfrm>
            <a:off x="9234343" y="2102023"/>
            <a:ext cx="294803" cy="294803"/>
          </a:xfrm>
          <a:prstGeom prst="rect">
            <a:avLst/>
          </a:prstGeom>
        </p:spPr>
      </p:pic>
      <p:sp>
        <p:nvSpPr>
          <p:cNvPr id="31" name="Flow Level 2 text"/>
          <p:cNvSpPr txBox="1"/>
          <p:nvPr/>
        </p:nvSpPr>
        <p:spPr>
          <a:xfrm>
            <a:off x="8778240" y="2606040"/>
            <a:ext cx="1234440" cy="640080"/>
          </a:xfrm>
          <a:prstGeom prst="rect">
            <a:avLst/>
          </a:prstGeom>
          <a:noFill/>
          <a:ln/>
        </p:spPr>
        <p:txBody>
          <a:bodyPr wrap="square" lIns="0" tIns="0" rIns="0" bIns="0" rtlCol="0" anchor="t"/>
          <a:lstStyle/>
          <a:p>
            <a:pPr algn="ctr" indent="0" marL="0">
              <a:buNone/>
            </a:pPr>
            <a:r>
              <a:rPr lang="en-US" sz="1400" b="1" dirty="0">
                <a:solidFill>
                  <a:schemeClr val="tx1"/>
                </a:solidFill>
              </a:rPr>
              <a:t>Level 2</a:t>
            </a:r>
            <a:endParaRPr lang="en-US" sz="1400" dirty="0"/>
          </a:p>
          <a:p>
            <a:pPr algn="ctr" indent="0" marL="0">
              <a:buNone/>
            </a:pPr>
            <a:r>
              <a:rPr lang="en-US" sz="1200" dirty="0">
                <a:solidFill>
                  <a:srgbClr val="475467"/>
                </a:solidFill>
              </a:rPr>
              <a:t>HR admins</a:t>
            </a:r>
            <a:endParaRPr lang="en-US" sz="1400" dirty="0"/>
          </a:p>
        </p:txBody>
      </p:sp>
      <p:sp>
        <p:nvSpPr>
          <p:cNvPr id="32" name="Flow arrow 3"/>
          <p:cNvSpPr/>
          <p:nvPr/>
        </p:nvSpPr>
        <p:spPr>
          <a:xfrm>
            <a:off x="9765792" y="2249424"/>
            <a:ext cx="685800" cy="0"/>
          </a:xfrm>
          <a:prstGeom prst="line">
            <a:avLst/>
          </a:prstGeom>
          <a:noFill/>
          <a:ln w="25400">
            <a:solidFill>
              <a:srgbClr val="AEE4CD"/>
            </a:solidFill>
            <a:prstDash val="solid"/>
            <a:tailEnd type="triangle"/>
          </a:ln>
        </p:spPr>
      </p:sp>
      <p:sp>
        <p:nvSpPr>
          <p:cNvPr id="33" name="Flow Approved circle"/>
          <p:cNvSpPr/>
          <p:nvPr/>
        </p:nvSpPr>
        <p:spPr>
          <a:xfrm>
            <a:off x="10561320" y="1965960"/>
            <a:ext cx="566928" cy="566928"/>
          </a:xfrm>
          <a:prstGeom prst="ellipse">
            <a:avLst/>
          </a:prstGeom>
          <a:solidFill>
            <a:schemeClr val="accent2"/>
          </a:solidFill>
          <a:ln w="12700">
            <a:solidFill>
              <a:schemeClr val="accent2"/>
            </a:solidFill>
            <a:prstDash val="solid"/>
          </a:ln>
        </p:spPr>
      </p:sp>
      <p:pic>
        <p:nvPicPr>
          <p:cNvPr id="34" name="Flow Approved icon" descr="preencoded.png">    </p:cNvPr>
          <p:cNvPicPr>
            <a:picLocks noChangeAspect="1"/>
          </p:cNvPicPr>
          <p:nvPr/>
        </p:nvPicPr>
        <p:blipFill>
          <a:blip r:embed="rId5"/>
          <a:stretch>
            <a:fillRect/>
          </a:stretch>
        </p:blipFill>
        <p:spPr>
          <a:xfrm>
            <a:off x="10697383" y="2102023"/>
            <a:ext cx="294803" cy="294803"/>
          </a:xfrm>
          <a:prstGeom prst="rect">
            <a:avLst/>
          </a:prstGeom>
        </p:spPr>
      </p:pic>
      <p:sp>
        <p:nvSpPr>
          <p:cNvPr id="35" name="Flow Approved text"/>
          <p:cNvSpPr txBox="1"/>
          <p:nvPr/>
        </p:nvSpPr>
        <p:spPr>
          <a:xfrm>
            <a:off x="10241280" y="2606040"/>
            <a:ext cx="1234440" cy="640080"/>
          </a:xfrm>
          <a:prstGeom prst="rect">
            <a:avLst/>
          </a:prstGeom>
          <a:noFill/>
          <a:ln/>
        </p:spPr>
        <p:txBody>
          <a:bodyPr wrap="square" lIns="0" tIns="0" rIns="0" bIns="0" rtlCol="0" anchor="t"/>
          <a:lstStyle/>
          <a:p>
            <a:pPr algn="ctr" indent="0" marL="0">
              <a:buNone/>
            </a:pPr>
            <a:r>
              <a:rPr lang="en-US" sz="1400" b="1" dirty="0">
                <a:solidFill>
                  <a:schemeClr val="tx1"/>
                </a:solidFill>
              </a:rPr>
              <a:t>Approved</a:t>
            </a:r>
            <a:endParaRPr lang="en-US" sz="1400" dirty="0"/>
          </a:p>
          <a:p>
            <a:pPr algn="ctr" indent="0" marL="0">
              <a:buNone/>
            </a:pPr>
            <a:r>
              <a:rPr lang="en-US" sz="1200" dirty="0">
                <a:solidFill>
                  <a:srgbClr val="475467"/>
                </a:solidFill>
              </a:rPr>
              <a:t>Attendance updates</a:t>
            </a:r>
            <a:endParaRPr lang="en-US" sz="1400" dirty="0"/>
          </a:p>
        </p:txBody>
      </p:sp>
      <p:sp>
        <p:nvSpPr>
          <p:cNvPr id="36" name="Escalation tag"/>
          <p:cNvSpPr/>
          <p:nvPr/>
        </p:nvSpPr>
        <p:spPr>
          <a:xfrm>
            <a:off x="6675120" y="3364992"/>
            <a:ext cx="4114800" cy="365760"/>
          </a:xfrm>
          <a:prstGeom prst="roundRect">
            <a:avLst>
              <a:gd name="adj" fmla="val 50000"/>
            </a:avLst>
          </a:prstGeom>
          <a:solidFill>
            <a:srgbClr val="FFFAEB"/>
          </a:solidFill>
          <a:ln w="12700">
            <a:solidFill>
              <a:srgbClr val="FEDF89"/>
            </a:solidFill>
            <a:prstDash val="solid"/>
          </a:ln>
        </p:spPr>
      </p:sp>
      <p:sp>
        <p:nvSpPr>
          <p:cNvPr id="37" name="Escalation text"/>
          <p:cNvSpPr txBox="1"/>
          <p:nvPr/>
        </p:nvSpPr>
        <p:spPr>
          <a:xfrm>
            <a:off x="6675120" y="3364992"/>
            <a:ext cx="4114800" cy="365760"/>
          </a:xfrm>
          <a:prstGeom prst="rect">
            <a:avLst/>
          </a:prstGeom>
          <a:noFill/>
          <a:ln/>
        </p:spPr>
        <p:txBody>
          <a:bodyPr wrap="square" lIns="0" tIns="0" rIns="0" bIns="0" rtlCol="0" anchor="ctr"/>
          <a:lstStyle/>
          <a:p>
            <a:pPr algn="ctr" indent="0" marL="0">
              <a:buNone/>
            </a:pPr>
            <a:r>
              <a:rPr lang="en-US" sz="1200" b="1" dirty="0">
                <a:solidFill>
                  <a:srgbClr val="B54708"/>
                </a:solidFill>
              </a:rPr>
              <a:t>Example workflow · escalates if nobody acts in time</a:t>
            </a:r>
            <a:endParaRPr lang="en-US" sz="1200" dirty="0"/>
          </a:p>
        </p:txBody>
      </p:sp>
      <p:sp>
        <p:nvSpPr>
          <p:cNvPr id="38" name="Inbox card"/>
          <p:cNvSpPr/>
          <p:nvPr/>
        </p:nvSpPr>
        <p:spPr>
          <a:xfrm>
            <a:off x="5852160" y="3977640"/>
            <a:ext cx="5760720" cy="2103120"/>
          </a:xfrm>
          <a:prstGeom prst="roundRect">
            <a:avLst>
              <a:gd name="adj" fmla="val 6087"/>
            </a:avLst>
          </a:prstGeom>
          <a:solidFill>
            <a:schemeClr val="bg2"/>
          </a:solidFill>
          <a:ln w="12700">
            <a:solidFill>
              <a:schemeClr val="bg2"/>
            </a:solidFill>
            <a:prstDash val="solid"/>
          </a:ln>
        </p:spPr>
      </p:sp>
      <p:sp>
        <p:nvSpPr>
          <p:cNvPr id="39" name="Inbox title"/>
          <p:cNvSpPr txBox="1"/>
          <p:nvPr/>
        </p:nvSpPr>
        <p:spPr>
          <a:xfrm>
            <a:off x="6126480" y="4160520"/>
            <a:ext cx="5303520" cy="365760"/>
          </a:xfrm>
          <a:prstGeom prst="rect">
            <a:avLst/>
          </a:prstGeom>
          <a:noFill/>
          <a:ln/>
        </p:spPr>
        <p:txBody>
          <a:bodyPr wrap="square" lIns="0" tIns="0" rIns="0" bIns="0" rtlCol="0" anchor="ctr"/>
          <a:lstStyle/>
          <a:p>
            <a:pPr indent="0" marL="0">
              <a:buNone/>
            </a:pPr>
            <a:r>
              <a:rPr lang="en-US" sz="1600" b="1" dirty="0">
                <a:solidFill>
                  <a:schemeClr val="tx1"/>
                </a:solidFill>
              </a:rPr>
              <a:t>One Approvals inbox</a:t>
            </a:r>
            <a:endParaRPr lang="en-US" sz="1600" dirty="0"/>
          </a:p>
        </p:txBody>
      </p:sp>
      <p:sp>
        <p:nvSpPr>
          <p:cNvPr id="40" name="Inbox type Leave"/>
          <p:cNvSpPr/>
          <p:nvPr/>
        </p:nvSpPr>
        <p:spPr>
          <a:xfrm>
            <a:off x="6126480" y="4617720"/>
            <a:ext cx="662940" cy="329184"/>
          </a:xfrm>
          <a:prstGeom prst="roundRect">
            <a:avLst>
              <a:gd name="adj" fmla="val 50000"/>
            </a:avLst>
          </a:prstGeom>
          <a:solidFill>
            <a:schemeClr val="bg1"/>
          </a:solidFill>
          <a:ln w="12700">
            <a:solidFill>
              <a:srgbClr val="D0D5DD"/>
            </a:solidFill>
            <a:prstDash val="solid"/>
          </a:ln>
        </p:spPr>
      </p:sp>
      <p:sp>
        <p:nvSpPr>
          <p:cNvPr id="41" name="Inbox type Leave label"/>
          <p:cNvSpPr txBox="1"/>
          <p:nvPr/>
        </p:nvSpPr>
        <p:spPr>
          <a:xfrm>
            <a:off x="6126480" y="4617720"/>
            <a:ext cx="662940" cy="329184"/>
          </a:xfrm>
          <a:prstGeom prst="rect">
            <a:avLst/>
          </a:prstGeom>
          <a:noFill/>
          <a:ln/>
        </p:spPr>
        <p:txBody>
          <a:bodyPr wrap="square" lIns="0" tIns="0" rIns="0" bIns="0" rtlCol="0" anchor="ctr"/>
          <a:lstStyle/>
          <a:p>
            <a:pPr algn="ctr" indent="0" marL="0">
              <a:buNone/>
            </a:pPr>
            <a:r>
              <a:rPr lang="en-US" sz="1200" dirty="0">
                <a:solidFill>
                  <a:srgbClr val="344054"/>
                </a:solidFill>
              </a:rPr>
              <a:t>Leave</a:t>
            </a:r>
            <a:endParaRPr lang="en-US" sz="1200" dirty="0"/>
          </a:p>
        </p:txBody>
      </p:sp>
      <p:sp>
        <p:nvSpPr>
          <p:cNvPr id="42" name="Inbox type Attendance correction"/>
          <p:cNvSpPr/>
          <p:nvPr/>
        </p:nvSpPr>
        <p:spPr>
          <a:xfrm>
            <a:off x="6899148" y="4617720"/>
            <a:ext cx="1906524" cy="329184"/>
          </a:xfrm>
          <a:prstGeom prst="roundRect">
            <a:avLst>
              <a:gd name="adj" fmla="val 50000"/>
            </a:avLst>
          </a:prstGeom>
          <a:solidFill>
            <a:schemeClr val="bg1"/>
          </a:solidFill>
          <a:ln w="12700">
            <a:solidFill>
              <a:srgbClr val="D0D5DD"/>
            </a:solidFill>
            <a:prstDash val="solid"/>
          </a:ln>
        </p:spPr>
      </p:sp>
      <p:sp>
        <p:nvSpPr>
          <p:cNvPr id="43" name="Inbox type Attendance correction label"/>
          <p:cNvSpPr txBox="1"/>
          <p:nvPr/>
        </p:nvSpPr>
        <p:spPr>
          <a:xfrm>
            <a:off x="6899148" y="4617720"/>
            <a:ext cx="1906524" cy="329184"/>
          </a:xfrm>
          <a:prstGeom prst="rect">
            <a:avLst/>
          </a:prstGeom>
          <a:noFill/>
          <a:ln/>
        </p:spPr>
        <p:txBody>
          <a:bodyPr wrap="square" lIns="0" tIns="0" rIns="0" bIns="0" rtlCol="0" anchor="ctr"/>
          <a:lstStyle/>
          <a:p>
            <a:pPr algn="ctr" indent="0" marL="0">
              <a:buNone/>
            </a:pPr>
            <a:r>
              <a:rPr lang="en-US" sz="1200" dirty="0">
                <a:solidFill>
                  <a:srgbClr val="344054"/>
                </a:solidFill>
              </a:rPr>
              <a:t>Attendance correction</a:t>
            </a:r>
            <a:endParaRPr lang="en-US" sz="1200" dirty="0"/>
          </a:p>
        </p:txBody>
      </p:sp>
      <p:sp>
        <p:nvSpPr>
          <p:cNvPr id="44" name="Inbox type Regularisation"/>
          <p:cNvSpPr/>
          <p:nvPr/>
        </p:nvSpPr>
        <p:spPr>
          <a:xfrm>
            <a:off x="8915400" y="4617720"/>
            <a:ext cx="1362456" cy="329184"/>
          </a:xfrm>
          <a:prstGeom prst="roundRect">
            <a:avLst>
              <a:gd name="adj" fmla="val 50000"/>
            </a:avLst>
          </a:prstGeom>
          <a:solidFill>
            <a:schemeClr val="bg1"/>
          </a:solidFill>
          <a:ln w="12700">
            <a:solidFill>
              <a:srgbClr val="D0D5DD"/>
            </a:solidFill>
            <a:prstDash val="solid"/>
          </a:ln>
        </p:spPr>
      </p:sp>
      <p:sp>
        <p:nvSpPr>
          <p:cNvPr id="45" name="Inbox type Regularisation label"/>
          <p:cNvSpPr txBox="1"/>
          <p:nvPr/>
        </p:nvSpPr>
        <p:spPr>
          <a:xfrm>
            <a:off x="8915400" y="4617720"/>
            <a:ext cx="1362456" cy="329184"/>
          </a:xfrm>
          <a:prstGeom prst="rect">
            <a:avLst/>
          </a:prstGeom>
          <a:noFill/>
          <a:ln/>
        </p:spPr>
        <p:txBody>
          <a:bodyPr wrap="square" lIns="0" tIns="0" rIns="0" bIns="0" rtlCol="0" anchor="ctr"/>
          <a:lstStyle/>
          <a:p>
            <a:pPr algn="ctr" indent="0" marL="0">
              <a:buNone/>
            </a:pPr>
            <a:r>
              <a:rPr lang="en-US" sz="1200" dirty="0">
                <a:solidFill>
                  <a:srgbClr val="344054"/>
                </a:solidFill>
              </a:rPr>
              <a:t>Regularisation</a:t>
            </a:r>
            <a:endParaRPr lang="en-US" sz="1200" dirty="0"/>
          </a:p>
        </p:txBody>
      </p:sp>
      <p:sp>
        <p:nvSpPr>
          <p:cNvPr id="46" name="Inbox type Shift change"/>
          <p:cNvSpPr/>
          <p:nvPr/>
        </p:nvSpPr>
        <p:spPr>
          <a:xfrm>
            <a:off x="6126480" y="5056632"/>
            <a:ext cx="1207008" cy="329184"/>
          </a:xfrm>
          <a:prstGeom prst="roundRect">
            <a:avLst>
              <a:gd name="adj" fmla="val 50000"/>
            </a:avLst>
          </a:prstGeom>
          <a:solidFill>
            <a:schemeClr val="bg1"/>
          </a:solidFill>
          <a:ln w="12700">
            <a:solidFill>
              <a:srgbClr val="D0D5DD"/>
            </a:solidFill>
            <a:prstDash val="solid"/>
          </a:ln>
        </p:spPr>
      </p:sp>
      <p:sp>
        <p:nvSpPr>
          <p:cNvPr id="47" name="Inbox type Shift change label"/>
          <p:cNvSpPr txBox="1"/>
          <p:nvPr/>
        </p:nvSpPr>
        <p:spPr>
          <a:xfrm>
            <a:off x="6126480" y="5056632"/>
            <a:ext cx="1207008" cy="329184"/>
          </a:xfrm>
          <a:prstGeom prst="rect">
            <a:avLst/>
          </a:prstGeom>
          <a:noFill/>
          <a:ln/>
        </p:spPr>
        <p:txBody>
          <a:bodyPr wrap="square" lIns="0" tIns="0" rIns="0" bIns="0" rtlCol="0" anchor="ctr"/>
          <a:lstStyle/>
          <a:p>
            <a:pPr algn="ctr" indent="0" marL="0">
              <a:buNone/>
            </a:pPr>
            <a:r>
              <a:rPr lang="en-US" sz="1200" dirty="0">
                <a:solidFill>
                  <a:srgbClr val="344054"/>
                </a:solidFill>
              </a:rPr>
              <a:t>Shift change</a:t>
            </a:r>
            <a:endParaRPr lang="en-US" sz="1200" dirty="0"/>
          </a:p>
        </p:txBody>
      </p:sp>
      <p:sp>
        <p:nvSpPr>
          <p:cNvPr id="48" name="Inbox type Shift swap"/>
          <p:cNvSpPr/>
          <p:nvPr/>
        </p:nvSpPr>
        <p:spPr>
          <a:xfrm>
            <a:off x="7443216" y="5056632"/>
            <a:ext cx="1051560" cy="329184"/>
          </a:xfrm>
          <a:prstGeom prst="roundRect">
            <a:avLst>
              <a:gd name="adj" fmla="val 50000"/>
            </a:avLst>
          </a:prstGeom>
          <a:solidFill>
            <a:schemeClr val="bg1"/>
          </a:solidFill>
          <a:ln w="12700">
            <a:solidFill>
              <a:srgbClr val="D0D5DD"/>
            </a:solidFill>
            <a:prstDash val="solid"/>
          </a:ln>
        </p:spPr>
      </p:sp>
      <p:sp>
        <p:nvSpPr>
          <p:cNvPr id="49" name="Inbox type Shift swap label"/>
          <p:cNvSpPr txBox="1"/>
          <p:nvPr/>
        </p:nvSpPr>
        <p:spPr>
          <a:xfrm>
            <a:off x="7443216" y="5056632"/>
            <a:ext cx="1051560" cy="329184"/>
          </a:xfrm>
          <a:prstGeom prst="rect">
            <a:avLst/>
          </a:prstGeom>
          <a:noFill/>
          <a:ln/>
        </p:spPr>
        <p:txBody>
          <a:bodyPr wrap="square" lIns="0" tIns="0" rIns="0" bIns="0" rtlCol="0" anchor="ctr"/>
          <a:lstStyle/>
          <a:p>
            <a:pPr algn="ctr" indent="0" marL="0">
              <a:buNone/>
            </a:pPr>
            <a:r>
              <a:rPr lang="en-US" sz="1200" dirty="0">
                <a:solidFill>
                  <a:srgbClr val="344054"/>
                </a:solidFill>
              </a:rPr>
              <a:t>Shift swap</a:t>
            </a:r>
            <a:endParaRPr lang="en-US" sz="1200" dirty="0"/>
          </a:p>
        </p:txBody>
      </p:sp>
      <p:sp>
        <p:nvSpPr>
          <p:cNvPr id="50" name="Inbox actions"/>
          <p:cNvSpPr txBox="1"/>
          <p:nvPr/>
        </p:nvSpPr>
        <p:spPr>
          <a:xfrm>
            <a:off x="6126480" y="5440680"/>
            <a:ext cx="5303520" cy="548640"/>
          </a:xfrm>
          <a:prstGeom prst="rect">
            <a:avLst/>
          </a:prstGeom>
          <a:noFill/>
          <a:ln/>
        </p:spPr>
        <p:txBody>
          <a:bodyPr wrap="square" lIns="0" tIns="0" rIns="0" bIns="0" rtlCol="0" anchor="t"/>
          <a:lstStyle/>
          <a:p>
            <a:pPr indent="0" marL="0">
              <a:buNone/>
            </a:pPr>
            <a:r>
              <a:rPr lang="en-US" sz="1200" dirty="0">
                <a:solidFill>
                  <a:srgbClr val="475467"/>
                </a:solidFill>
              </a:rPr>
              <a:t>Approve, reject or ask for information: one by one, in bulk, or from an e-mail. HR can add workflows of up to five levels; a secondary manager is the backup approver.</a:t>
            </a:r>
            <a:endParaRPr lang="en-US" sz="1200" dirty="0"/>
          </a:p>
        </p:txBody>
      </p:sp>
      <p:sp>
        <p:nvSpPr>
          <p:cNvPr id="25" name="Slide Number Placeholder 0"/>
          <p:cNvSpPr>
            <a:spLocks noGrp="1"/>
          </p:cNvSpPr>
          <p:nvPr>
            <p:ph type="sldNum" sz="quarter" idx="4294967295"/>
          </p:nvPr>
        </p:nvSpPr>
        <p:spPr>
          <a:xfrm>
            <a:off x="11292840" y="6355080"/>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670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Configure once, watch it live</a:t>
            </a:r>
            <a:endParaRPr lang="en-US" sz="3600" dirty="0"/>
          </a:p>
        </p:txBody>
      </p:sp>
      <p:sp>
        <p:nvSpPr>
          <p:cNvPr id="3" name="Stats caption"/>
          <p:cNvSpPr txBox="1"/>
          <p:nvPr/>
        </p:nvSpPr>
        <p:spPr>
          <a:xfrm>
            <a:off x="548640" y="1234440"/>
            <a:ext cx="5486400" cy="320040"/>
          </a:xfrm>
          <a:prstGeom prst="rect">
            <a:avLst/>
          </a:prstGeom>
          <a:noFill/>
          <a:ln/>
        </p:spPr>
        <p:txBody>
          <a:bodyPr wrap="square" lIns="0" tIns="0" rIns="0" bIns="0" rtlCol="0" anchor="ctr"/>
          <a:lstStyle/>
          <a:p>
            <a:pPr indent="0" marL="0">
              <a:buNone/>
            </a:pPr>
            <a:r>
              <a:rPr lang="en-US" sz="1400" dirty="0">
                <a:solidFill>
                  <a:srgbClr val="B9D3CA"/>
                </a:solidFill>
              </a:rPr>
              <a:t>Example dashboard: one working day at a glance</a:t>
            </a:r>
            <a:endParaRPr lang="en-US" sz="1400" dirty="0"/>
          </a:p>
        </p:txBody>
      </p:sp>
      <p:sp>
        <p:nvSpPr>
          <p:cNvPr id="4" name="Stat Present today card"/>
          <p:cNvSpPr/>
          <p:nvPr/>
        </p:nvSpPr>
        <p:spPr>
          <a:xfrm>
            <a:off x="548640" y="1737360"/>
            <a:ext cx="2606040" cy="1508760"/>
          </a:xfrm>
          <a:prstGeom prst="roundRect">
            <a:avLst>
              <a:gd name="adj" fmla="val 8485"/>
            </a:avLst>
          </a:prstGeom>
          <a:solidFill>
            <a:srgbClr val="17453A"/>
          </a:solidFill>
          <a:ln w="12700">
            <a:solidFill>
              <a:srgbClr val="17453A"/>
            </a:solidFill>
            <a:prstDash val="solid"/>
          </a:ln>
        </p:spPr>
      </p:sp>
      <p:sp>
        <p:nvSpPr>
          <p:cNvPr id="5" name="Stat Present today value"/>
          <p:cNvSpPr txBox="1"/>
          <p:nvPr/>
        </p:nvSpPr>
        <p:spPr>
          <a:xfrm>
            <a:off x="822960" y="1901952"/>
            <a:ext cx="2103120" cy="822960"/>
          </a:xfrm>
          <a:prstGeom prst="rect">
            <a:avLst/>
          </a:prstGeom>
          <a:noFill/>
          <a:ln/>
        </p:spPr>
        <p:txBody>
          <a:bodyPr wrap="square" lIns="0" tIns="0" rIns="0" bIns="0" rtlCol="0" anchor="ctr"/>
          <a:lstStyle/>
          <a:p>
            <a:pPr indent="0" marL="0">
              <a:buNone/>
            </a:pPr>
            <a:r>
              <a:rPr lang="en-US" sz="5400" b="1" dirty="0">
                <a:solidFill>
                  <a:srgbClr val="5DD39E"/>
                </a:solidFill>
                <a:latin typeface="Arial" pitchFamily="34" charset="0"/>
                <a:ea typeface="Arial" pitchFamily="34" charset="-122"/>
                <a:cs typeface="Arial" pitchFamily="34" charset="-120"/>
              </a:rPr>
              <a:t>412</a:t>
            </a:r>
            <a:endParaRPr lang="en-US" sz="5400" dirty="0"/>
          </a:p>
        </p:txBody>
      </p:sp>
      <p:sp>
        <p:nvSpPr>
          <p:cNvPr id="6" name="Stat Present today label"/>
          <p:cNvSpPr txBox="1"/>
          <p:nvPr/>
        </p:nvSpPr>
        <p:spPr>
          <a:xfrm>
            <a:off x="822960" y="2724912"/>
            <a:ext cx="2103120" cy="365760"/>
          </a:xfrm>
          <a:prstGeom prst="rect">
            <a:avLst/>
          </a:prstGeom>
          <a:noFill/>
          <a:ln/>
        </p:spPr>
        <p:txBody>
          <a:bodyPr wrap="square" lIns="0" tIns="0" rIns="0" bIns="0" rtlCol="0" anchor="ctr"/>
          <a:lstStyle/>
          <a:p>
            <a:pPr indent="0" marL="0">
              <a:buNone/>
            </a:pPr>
            <a:r>
              <a:rPr lang="en-US" sz="1400" dirty="0">
                <a:solidFill>
                  <a:srgbClr val="D7E5E0"/>
                </a:solidFill>
              </a:rPr>
              <a:t>Present today</a:t>
            </a:r>
            <a:endParaRPr lang="en-US" sz="1400" dirty="0"/>
          </a:p>
        </p:txBody>
      </p:sp>
      <p:sp>
        <p:nvSpPr>
          <p:cNvPr id="7" name="Stat Absent card"/>
          <p:cNvSpPr/>
          <p:nvPr/>
        </p:nvSpPr>
        <p:spPr>
          <a:xfrm>
            <a:off x="3337560" y="1737360"/>
            <a:ext cx="2606040" cy="1508760"/>
          </a:xfrm>
          <a:prstGeom prst="roundRect">
            <a:avLst>
              <a:gd name="adj" fmla="val 8485"/>
            </a:avLst>
          </a:prstGeom>
          <a:solidFill>
            <a:srgbClr val="17453A"/>
          </a:solidFill>
          <a:ln w="12700">
            <a:solidFill>
              <a:srgbClr val="17453A"/>
            </a:solidFill>
            <a:prstDash val="solid"/>
          </a:ln>
        </p:spPr>
      </p:sp>
      <p:sp>
        <p:nvSpPr>
          <p:cNvPr id="8" name="Stat Absent value"/>
          <p:cNvSpPr txBox="1"/>
          <p:nvPr/>
        </p:nvSpPr>
        <p:spPr>
          <a:xfrm>
            <a:off x="3611880" y="1901952"/>
            <a:ext cx="2103120" cy="822960"/>
          </a:xfrm>
          <a:prstGeom prst="rect">
            <a:avLst/>
          </a:prstGeom>
          <a:noFill/>
          <a:ln/>
        </p:spPr>
        <p:txBody>
          <a:bodyPr wrap="square" lIns="0" tIns="0" rIns="0" bIns="0" rtlCol="0" anchor="ctr"/>
          <a:lstStyle/>
          <a:p>
            <a:pPr indent="0" marL="0">
              <a:buNone/>
            </a:pPr>
            <a:r>
              <a:rPr lang="en-US" sz="5400" b="1" dirty="0">
                <a:solidFill>
                  <a:srgbClr val="FCA5A5"/>
                </a:solidFill>
                <a:latin typeface="Arial" pitchFamily="34" charset="0"/>
                <a:ea typeface="Arial" pitchFamily="34" charset="-122"/>
                <a:cs typeface="Arial" pitchFamily="34" charset="-120"/>
              </a:rPr>
              <a:t>14</a:t>
            </a:r>
            <a:endParaRPr lang="en-US" sz="5400" dirty="0"/>
          </a:p>
        </p:txBody>
      </p:sp>
      <p:sp>
        <p:nvSpPr>
          <p:cNvPr id="9" name="Stat Absent label"/>
          <p:cNvSpPr txBox="1"/>
          <p:nvPr/>
        </p:nvSpPr>
        <p:spPr>
          <a:xfrm>
            <a:off x="3611880" y="2724912"/>
            <a:ext cx="2103120" cy="365760"/>
          </a:xfrm>
          <a:prstGeom prst="rect">
            <a:avLst/>
          </a:prstGeom>
          <a:noFill/>
          <a:ln/>
        </p:spPr>
        <p:txBody>
          <a:bodyPr wrap="square" lIns="0" tIns="0" rIns="0" bIns="0" rtlCol="0" anchor="ctr"/>
          <a:lstStyle/>
          <a:p>
            <a:pPr indent="0" marL="0">
              <a:buNone/>
            </a:pPr>
            <a:r>
              <a:rPr lang="en-US" sz="1400" dirty="0">
                <a:solidFill>
                  <a:srgbClr val="D7E5E0"/>
                </a:solidFill>
              </a:rPr>
              <a:t>Absent</a:t>
            </a:r>
            <a:endParaRPr lang="en-US" sz="1400" dirty="0"/>
          </a:p>
        </p:txBody>
      </p:sp>
      <p:sp>
        <p:nvSpPr>
          <p:cNvPr id="10" name="Stat On leave card"/>
          <p:cNvSpPr/>
          <p:nvPr/>
        </p:nvSpPr>
        <p:spPr>
          <a:xfrm>
            <a:off x="548640" y="3429000"/>
            <a:ext cx="2606040" cy="1508760"/>
          </a:xfrm>
          <a:prstGeom prst="roundRect">
            <a:avLst>
              <a:gd name="adj" fmla="val 8485"/>
            </a:avLst>
          </a:prstGeom>
          <a:solidFill>
            <a:srgbClr val="17453A"/>
          </a:solidFill>
          <a:ln w="12700">
            <a:solidFill>
              <a:srgbClr val="17453A"/>
            </a:solidFill>
            <a:prstDash val="solid"/>
          </a:ln>
        </p:spPr>
      </p:sp>
      <p:sp>
        <p:nvSpPr>
          <p:cNvPr id="11" name="Stat On leave value"/>
          <p:cNvSpPr txBox="1"/>
          <p:nvPr/>
        </p:nvSpPr>
        <p:spPr>
          <a:xfrm>
            <a:off x="822960" y="3593592"/>
            <a:ext cx="2103120" cy="822960"/>
          </a:xfrm>
          <a:prstGeom prst="rect">
            <a:avLst/>
          </a:prstGeom>
          <a:noFill/>
          <a:ln/>
        </p:spPr>
        <p:txBody>
          <a:bodyPr wrap="square" lIns="0" tIns="0" rIns="0" bIns="0" rtlCol="0" anchor="ctr"/>
          <a:lstStyle/>
          <a:p>
            <a:pPr indent="0" marL="0">
              <a:buNone/>
            </a:pPr>
            <a:r>
              <a:rPr lang="en-US" sz="5400" b="1" dirty="0">
                <a:solidFill>
                  <a:srgbClr val="93C5FD"/>
                </a:solidFill>
                <a:latin typeface="Arial" pitchFamily="34" charset="0"/>
                <a:ea typeface="Arial" pitchFamily="34" charset="-122"/>
                <a:cs typeface="Arial" pitchFamily="34" charset="-120"/>
              </a:rPr>
              <a:t>23</a:t>
            </a:r>
            <a:endParaRPr lang="en-US" sz="5400" dirty="0"/>
          </a:p>
        </p:txBody>
      </p:sp>
      <p:sp>
        <p:nvSpPr>
          <p:cNvPr id="12" name="Stat On leave label"/>
          <p:cNvSpPr txBox="1"/>
          <p:nvPr/>
        </p:nvSpPr>
        <p:spPr>
          <a:xfrm>
            <a:off x="822960" y="4416552"/>
            <a:ext cx="2103120" cy="365760"/>
          </a:xfrm>
          <a:prstGeom prst="rect">
            <a:avLst/>
          </a:prstGeom>
          <a:noFill/>
          <a:ln/>
        </p:spPr>
        <p:txBody>
          <a:bodyPr wrap="square" lIns="0" tIns="0" rIns="0" bIns="0" rtlCol="0" anchor="ctr"/>
          <a:lstStyle/>
          <a:p>
            <a:pPr indent="0" marL="0">
              <a:buNone/>
            </a:pPr>
            <a:r>
              <a:rPr lang="en-US" sz="1400" dirty="0">
                <a:solidFill>
                  <a:srgbClr val="D7E5E0"/>
                </a:solidFill>
              </a:rPr>
              <a:t>On leave</a:t>
            </a:r>
            <a:endParaRPr lang="en-US" sz="1400" dirty="0"/>
          </a:p>
        </p:txBody>
      </p:sp>
      <p:sp>
        <p:nvSpPr>
          <p:cNvPr id="13" name="Stat Late card"/>
          <p:cNvSpPr/>
          <p:nvPr/>
        </p:nvSpPr>
        <p:spPr>
          <a:xfrm>
            <a:off x="3337560" y="3429000"/>
            <a:ext cx="2606040" cy="1508760"/>
          </a:xfrm>
          <a:prstGeom prst="roundRect">
            <a:avLst>
              <a:gd name="adj" fmla="val 8485"/>
            </a:avLst>
          </a:prstGeom>
          <a:solidFill>
            <a:srgbClr val="17453A"/>
          </a:solidFill>
          <a:ln w="12700">
            <a:solidFill>
              <a:srgbClr val="17453A"/>
            </a:solidFill>
            <a:prstDash val="solid"/>
          </a:ln>
        </p:spPr>
      </p:sp>
      <p:sp>
        <p:nvSpPr>
          <p:cNvPr id="14" name="Stat Late value"/>
          <p:cNvSpPr txBox="1"/>
          <p:nvPr/>
        </p:nvSpPr>
        <p:spPr>
          <a:xfrm>
            <a:off x="3611880" y="3593592"/>
            <a:ext cx="2103120" cy="822960"/>
          </a:xfrm>
          <a:prstGeom prst="rect">
            <a:avLst/>
          </a:prstGeom>
          <a:noFill/>
          <a:ln/>
        </p:spPr>
        <p:txBody>
          <a:bodyPr wrap="square" lIns="0" tIns="0" rIns="0" bIns="0" rtlCol="0" anchor="ctr"/>
          <a:lstStyle/>
          <a:p>
            <a:pPr indent="0" marL="0">
              <a:buNone/>
            </a:pPr>
            <a:r>
              <a:rPr lang="en-US" sz="5400" b="1" dirty="0">
                <a:solidFill>
                  <a:srgbClr val="FCD34D"/>
                </a:solidFill>
                <a:latin typeface="Arial" pitchFamily="34" charset="0"/>
                <a:ea typeface="Arial" pitchFamily="34" charset="-122"/>
                <a:cs typeface="Arial" pitchFamily="34" charset="-120"/>
              </a:rPr>
              <a:t>19</a:t>
            </a:r>
            <a:endParaRPr lang="en-US" sz="5400" dirty="0"/>
          </a:p>
        </p:txBody>
      </p:sp>
      <p:sp>
        <p:nvSpPr>
          <p:cNvPr id="15" name="Stat Late label"/>
          <p:cNvSpPr txBox="1"/>
          <p:nvPr/>
        </p:nvSpPr>
        <p:spPr>
          <a:xfrm>
            <a:off x="3611880" y="4416552"/>
            <a:ext cx="2103120" cy="365760"/>
          </a:xfrm>
          <a:prstGeom prst="rect">
            <a:avLst/>
          </a:prstGeom>
          <a:noFill/>
          <a:ln/>
        </p:spPr>
        <p:txBody>
          <a:bodyPr wrap="square" lIns="0" tIns="0" rIns="0" bIns="0" rtlCol="0" anchor="ctr"/>
          <a:lstStyle/>
          <a:p>
            <a:pPr indent="0" marL="0">
              <a:buNone/>
            </a:pPr>
            <a:r>
              <a:rPr lang="en-US" sz="1400" dirty="0">
                <a:solidFill>
                  <a:srgbClr val="D7E5E0"/>
                </a:solidFill>
              </a:rPr>
              <a:t>Late</a:t>
            </a:r>
            <a:endParaRPr lang="en-US" sz="1400" dirty="0"/>
          </a:p>
        </p:txBody>
      </p:sp>
      <p:sp>
        <p:nvSpPr>
          <p:cNvPr id="16" name="Attendance rate card"/>
          <p:cNvSpPr/>
          <p:nvPr/>
        </p:nvSpPr>
        <p:spPr>
          <a:xfrm>
            <a:off x="548640" y="5349240"/>
            <a:ext cx="5394960" cy="685800"/>
          </a:xfrm>
          <a:prstGeom prst="roundRect">
            <a:avLst>
              <a:gd name="adj" fmla="val 18667"/>
            </a:avLst>
          </a:prstGeom>
          <a:solidFill>
            <a:srgbClr val="17453A"/>
          </a:solidFill>
          <a:ln w="12700">
            <a:solidFill>
              <a:srgbClr val="17453A"/>
            </a:solidFill>
            <a:prstDash val="solid"/>
          </a:ln>
        </p:spPr>
      </p:sp>
      <p:sp>
        <p:nvSpPr>
          <p:cNvPr id="17" name="Attendance rate text"/>
          <p:cNvSpPr txBox="1"/>
          <p:nvPr/>
        </p:nvSpPr>
        <p:spPr>
          <a:xfrm>
            <a:off x="822960" y="5349240"/>
            <a:ext cx="4937760" cy="685800"/>
          </a:xfrm>
          <a:prstGeom prst="rect">
            <a:avLst/>
          </a:prstGeom>
          <a:noFill/>
          <a:ln/>
        </p:spPr>
        <p:txBody>
          <a:bodyPr wrap="square" lIns="0" tIns="0" rIns="0" bIns="0" rtlCol="0" anchor="ctr"/>
          <a:lstStyle/>
          <a:p>
            <a:pPr indent="0" marL="0">
              <a:buNone/>
            </a:pPr>
            <a:r>
              <a:rPr lang="en-US" sz="2400" b="1" dirty="0">
                <a:solidFill>
                  <a:srgbClr val="5DD39E"/>
                </a:solidFill>
              </a:rPr>
              <a:t>88%  </a:t>
            </a:r>
            <a:pPr indent="0" marL="0">
              <a:buNone/>
            </a:pPr>
            <a:r>
              <a:rPr lang="en-US" sz="1400" dirty="0">
                <a:solidFill>
                  <a:srgbClr val="D7E5E0"/>
                </a:solidFill>
              </a:rPr>
              <a:t>attendance rate, 14 more present than last week</a:t>
            </a:r>
            <a:endParaRPr lang="en-US" sz="2400" dirty="0"/>
          </a:p>
        </p:txBody>
      </p:sp>
      <p:sp>
        <p:nvSpPr>
          <p:cNvPr id="18" name="Config 1 circle"/>
          <p:cNvSpPr/>
          <p:nvPr/>
        </p:nvSpPr>
        <p:spPr>
          <a:xfrm>
            <a:off x="6400800" y="1737360"/>
            <a:ext cx="548640" cy="548640"/>
          </a:xfrm>
          <a:prstGeom prst="ellipse">
            <a:avLst/>
          </a:prstGeom>
          <a:solidFill>
            <a:srgbClr val="17453A"/>
          </a:solidFill>
          <a:ln w="12700">
            <a:solidFill>
              <a:srgbClr val="17453A"/>
            </a:solidFill>
            <a:prstDash val="solid"/>
          </a:ln>
        </p:spPr>
      </p:sp>
      <p:pic>
        <p:nvPicPr>
          <p:cNvPr id="19" name="Config 1 icon" descr="preencoded.png">    </p:cNvPr>
          <p:cNvPicPr>
            <a:picLocks noChangeAspect="1"/>
          </p:cNvPicPr>
          <p:nvPr/>
        </p:nvPicPr>
        <p:blipFill>
          <a:blip r:embed="rId1"/>
          <a:stretch>
            <a:fillRect/>
          </a:stretch>
        </p:blipFill>
        <p:spPr>
          <a:xfrm>
            <a:off x="6532474" y="1869034"/>
            <a:ext cx="285293" cy="285293"/>
          </a:xfrm>
          <a:prstGeom prst="rect">
            <a:avLst/>
          </a:prstGeom>
        </p:spPr>
      </p:pic>
      <p:sp>
        <p:nvSpPr>
          <p:cNvPr id="20" name="Config 1 text"/>
          <p:cNvSpPr txBox="1"/>
          <p:nvPr/>
        </p:nvSpPr>
        <p:spPr>
          <a:xfrm>
            <a:off x="7132320" y="1691640"/>
            <a:ext cx="4480560" cy="685800"/>
          </a:xfrm>
          <a:prstGeom prst="rect">
            <a:avLst/>
          </a:prstGeom>
          <a:noFill/>
          <a:ln/>
        </p:spPr>
        <p:txBody>
          <a:bodyPr wrap="square" lIns="0" tIns="0" rIns="0" bIns="0" rtlCol="0" anchor="t"/>
          <a:lstStyle/>
          <a:p>
            <a:pPr indent="0" marL="0">
              <a:buNone/>
            </a:pPr>
            <a:r>
              <a:rPr lang="en-US" sz="1600" b="1" dirty="0">
                <a:solidFill>
                  <a:schemeClr val="bg1"/>
                </a:solidFill>
              </a:rPr>
              <a:t>Settings</a:t>
            </a:r>
            <a:endParaRPr lang="en-US" sz="1600" dirty="0"/>
          </a:p>
          <a:p>
            <a:pPr indent="0" marL="0">
              <a:buNone/>
            </a:pPr>
            <a:r>
              <a:rPr lang="en-US" sz="1400" dirty="0">
                <a:solidFill>
                  <a:srgbClr val="B9D3CA"/>
                </a:solidFill>
              </a:rPr>
              <a:t>Regional, attendance rules, sync, notifications, security and leave</a:t>
            </a:r>
            <a:endParaRPr lang="en-US" sz="1600" dirty="0"/>
          </a:p>
        </p:txBody>
      </p:sp>
      <p:sp>
        <p:nvSpPr>
          <p:cNvPr id="21" name="Config 2 circle"/>
          <p:cNvSpPr/>
          <p:nvPr/>
        </p:nvSpPr>
        <p:spPr>
          <a:xfrm>
            <a:off x="6400800" y="2578608"/>
            <a:ext cx="548640" cy="548640"/>
          </a:xfrm>
          <a:prstGeom prst="ellipse">
            <a:avLst/>
          </a:prstGeom>
          <a:solidFill>
            <a:srgbClr val="17453A"/>
          </a:solidFill>
          <a:ln w="12700">
            <a:solidFill>
              <a:srgbClr val="17453A"/>
            </a:solidFill>
            <a:prstDash val="solid"/>
          </a:ln>
        </p:spPr>
      </p:sp>
      <p:pic>
        <p:nvPicPr>
          <p:cNvPr id="22" name="Config 2 icon" descr="preencoded.png">    </p:cNvPr>
          <p:cNvPicPr>
            <a:picLocks noChangeAspect="1"/>
          </p:cNvPicPr>
          <p:nvPr/>
        </p:nvPicPr>
        <p:blipFill>
          <a:blip r:embed="rId2"/>
          <a:stretch>
            <a:fillRect/>
          </a:stretch>
        </p:blipFill>
        <p:spPr>
          <a:xfrm>
            <a:off x="6532474" y="2710282"/>
            <a:ext cx="285293" cy="285293"/>
          </a:xfrm>
          <a:prstGeom prst="rect">
            <a:avLst/>
          </a:prstGeom>
        </p:spPr>
      </p:pic>
      <p:sp>
        <p:nvSpPr>
          <p:cNvPr id="23" name="Config 2 text"/>
          <p:cNvSpPr txBox="1"/>
          <p:nvPr/>
        </p:nvSpPr>
        <p:spPr>
          <a:xfrm>
            <a:off x="7132320" y="2532888"/>
            <a:ext cx="4480560" cy="685800"/>
          </a:xfrm>
          <a:prstGeom prst="rect">
            <a:avLst/>
          </a:prstGeom>
          <a:noFill/>
          <a:ln/>
        </p:spPr>
        <p:txBody>
          <a:bodyPr wrap="square" lIns="0" tIns="0" rIns="0" bIns="0" rtlCol="0" anchor="t"/>
          <a:lstStyle/>
          <a:p>
            <a:pPr indent="0" marL="0">
              <a:buNone/>
            </a:pPr>
            <a:r>
              <a:rPr lang="en-US" sz="1600" b="1" dirty="0">
                <a:solidFill>
                  <a:schemeClr val="bg1"/>
                </a:solidFill>
              </a:rPr>
              <a:t>Roles &amp; branch scope</a:t>
            </a:r>
            <a:endParaRPr lang="en-US" sz="1600" dirty="0"/>
          </a:p>
          <a:p>
            <a:pPr indent="0" marL="0">
              <a:buNone/>
            </a:pPr>
            <a:r>
              <a:rPr lang="en-US" sz="1400" dirty="0">
                <a:solidFill>
                  <a:srgbClr val="B9D3CA"/>
                </a:solidFill>
              </a:rPr>
              <a:t>Decide who sees and approves for which branch</a:t>
            </a:r>
            <a:endParaRPr lang="en-US" sz="1600" dirty="0"/>
          </a:p>
        </p:txBody>
      </p:sp>
      <p:sp>
        <p:nvSpPr>
          <p:cNvPr id="24" name="Config 3 circle"/>
          <p:cNvSpPr/>
          <p:nvPr/>
        </p:nvSpPr>
        <p:spPr>
          <a:xfrm>
            <a:off x="6400800" y="3419856"/>
            <a:ext cx="548640" cy="548640"/>
          </a:xfrm>
          <a:prstGeom prst="ellipse">
            <a:avLst/>
          </a:prstGeom>
          <a:solidFill>
            <a:srgbClr val="17453A"/>
          </a:solidFill>
          <a:ln w="12700">
            <a:solidFill>
              <a:srgbClr val="17453A"/>
            </a:solidFill>
            <a:prstDash val="solid"/>
          </a:ln>
        </p:spPr>
      </p:sp>
      <p:pic>
        <p:nvPicPr>
          <p:cNvPr id="25" name="Config 3 icon" descr="preencoded.png">    </p:cNvPr>
          <p:cNvPicPr>
            <a:picLocks noChangeAspect="1"/>
          </p:cNvPicPr>
          <p:nvPr/>
        </p:nvPicPr>
        <p:blipFill>
          <a:blip r:embed="rId3"/>
          <a:stretch>
            <a:fillRect/>
          </a:stretch>
        </p:blipFill>
        <p:spPr>
          <a:xfrm>
            <a:off x="6532474" y="3551530"/>
            <a:ext cx="285293" cy="285293"/>
          </a:xfrm>
          <a:prstGeom prst="rect">
            <a:avLst/>
          </a:prstGeom>
        </p:spPr>
      </p:pic>
      <p:sp>
        <p:nvSpPr>
          <p:cNvPr id="26" name="Config 3 text"/>
          <p:cNvSpPr txBox="1"/>
          <p:nvPr/>
        </p:nvSpPr>
        <p:spPr>
          <a:xfrm>
            <a:off x="7132320" y="3374136"/>
            <a:ext cx="4480560" cy="685800"/>
          </a:xfrm>
          <a:prstGeom prst="rect">
            <a:avLst/>
          </a:prstGeom>
          <a:noFill/>
          <a:ln/>
        </p:spPr>
        <p:txBody>
          <a:bodyPr wrap="square" lIns="0" tIns="0" rIns="0" bIns="0" rtlCol="0" anchor="t"/>
          <a:lstStyle/>
          <a:p>
            <a:pPr indent="0" marL="0">
              <a:buNone/>
            </a:pPr>
            <a:r>
              <a:rPr lang="en-US" sz="1600" b="1" dirty="0">
                <a:solidFill>
                  <a:schemeClr val="bg1"/>
                </a:solidFill>
              </a:rPr>
              <a:t>7 styles, 3 layouts</a:t>
            </a:r>
            <a:endParaRPr lang="en-US" sz="1600" dirty="0"/>
          </a:p>
          <a:p>
            <a:pPr indent="0" marL="0">
              <a:buNone/>
            </a:pPr>
            <a:r>
              <a:rPr lang="en-US" sz="1400" dirty="0">
                <a:solidFill>
                  <a:srgbClr val="B9D3CA"/>
                </a:solidFill>
              </a:rPr>
              <a:t>Overview, Operations or Executive</a:t>
            </a:r>
            <a:endParaRPr lang="en-US" sz="1600" dirty="0"/>
          </a:p>
        </p:txBody>
      </p:sp>
      <p:sp>
        <p:nvSpPr>
          <p:cNvPr id="27" name="Config 4 circle"/>
          <p:cNvSpPr/>
          <p:nvPr/>
        </p:nvSpPr>
        <p:spPr>
          <a:xfrm>
            <a:off x="6400800" y="4261104"/>
            <a:ext cx="548640" cy="548640"/>
          </a:xfrm>
          <a:prstGeom prst="ellipse">
            <a:avLst/>
          </a:prstGeom>
          <a:solidFill>
            <a:srgbClr val="17453A"/>
          </a:solidFill>
          <a:ln w="12700">
            <a:solidFill>
              <a:srgbClr val="17453A"/>
            </a:solidFill>
            <a:prstDash val="solid"/>
          </a:ln>
        </p:spPr>
      </p:sp>
      <p:pic>
        <p:nvPicPr>
          <p:cNvPr id="28" name="Config 4 icon" descr="preencoded.png">    </p:cNvPr>
          <p:cNvPicPr>
            <a:picLocks noChangeAspect="1"/>
          </p:cNvPicPr>
          <p:nvPr/>
        </p:nvPicPr>
        <p:blipFill>
          <a:blip r:embed="rId4"/>
          <a:stretch>
            <a:fillRect/>
          </a:stretch>
        </p:blipFill>
        <p:spPr>
          <a:xfrm>
            <a:off x="6532474" y="4392778"/>
            <a:ext cx="285293" cy="285293"/>
          </a:xfrm>
          <a:prstGeom prst="rect">
            <a:avLst/>
          </a:prstGeom>
        </p:spPr>
      </p:pic>
      <p:sp>
        <p:nvSpPr>
          <p:cNvPr id="29" name="Config 4 text"/>
          <p:cNvSpPr txBox="1"/>
          <p:nvPr/>
        </p:nvSpPr>
        <p:spPr>
          <a:xfrm>
            <a:off x="7132320" y="4215384"/>
            <a:ext cx="4480560" cy="685800"/>
          </a:xfrm>
          <a:prstGeom prst="rect">
            <a:avLst/>
          </a:prstGeom>
          <a:noFill/>
          <a:ln/>
        </p:spPr>
        <p:txBody>
          <a:bodyPr wrap="square" lIns="0" tIns="0" rIns="0" bIns="0" rtlCol="0" anchor="t"/>
          <a:lstStyle/>
          <a:p>
            <a:pPr indent="0" marL="0">
              <a:buNone/>
            </a:pPr>
            <a:r>
              <a:rPr lang="en-US" sz="1600" b="1" dirty="0">
                <a:solidFill>
                  <a:schemeClr val="bg1"/>
                </a:solidFill>
              </a:rPr>
              <a:t>Reports</a:t>
            </a:r>
            <a:endParaRPr lang="en-US" sz="1600" dirty="0"/>
          </a:p>
          <a:p>
            <a:pPr indent="0" marL="0">
              <a:buNone/>
            </a:pPr>
            <a:r>
              <a:rPr lang="en-US" sz="1400" dirty="0">
                <a:solidFill>
                  <a:srgbClr val="B9D3CA"/>
                </a:solidFill>
              </a:rPr>
              <a:t>Daily, monthly, late, absence and leave in PDF, Excel or CSV</a:t>
            </a:r>
            <a:endParaRPr lang="en-US" sz="1600" dirty="0"/>
          </a:p>
        </p:txBody>
      </p:sp>
      <p:sp>
        <p:nvSpPr>
          <p:cNvPr id="30" name="Call to action"/>
          <p:cNvSpPr/>
          <p:nvPr/>
        </p:nvSpPr>
        <p:spPr>
          <a:xfrm>
            <a:off x="6400800" y="5349240"/>
            <a:ext cx="5212080" cy="685800"/>
          </a:xfrm>
          <a:prstGeom prst="roundRect">
            <a:avLst>
              <a:gd name="adj" fmla="val 50000"/>
            </a:avLst>
          </a:prstGeom>
          <a:solidFill>
            <a:schemeClr val="bg1"/>
          </a:solidFill>
          <a:ln w="12700">
            <a:solidFill>
              <a:schemeClr val="bg1"/>
            </a:solidFill>
            <a:prstDash val="solid"/>
          </a:ln>
        </p:spPr>
      </p:sp>
      <p:sp>
        <p:nvSpPr>
          <p:cNvPr id="31" name="Call to action text"/>
          <p:cNvSpPr txBox="1"/>
          <p:nvPr/>
        </p:nvSpPr>
        <p:spPr>
          <a:xfrm>
            <a:off x="6400800" y="5349240"/>
            <a:ext cx="5212080" cy="685800"/>
          </a:xfrm>
          <a:prstGeom prst="rect">
            <a:avLst/>
          </a:prstGeom>
          <a:noFill/>
          <a:ln/>
        </p:spPr>
        <p:txBody>
          <a:bodyPr wrap="square" lIns="0" tIns="0" rIns="0" bIns="0" rtlCol="0" anchor="ctr"/>
          <a:lstStyle/>
          <a:p>
            <a:pPr algn="ctr" indent="0" marL="0">
              <a:buNone/>
            </a:pPr>
            <a:r>
              <a:rPr lang="en-US" sz="2000" dirty="0">
                <a:solidFill>
                  <a:srgbClr val="0B2D25"/>
                </a:solidFill>
              </a:rPr>
              <a:t>See it for yourself at </a:t>
            </a:r>
            <a:pPr algn="ctr" indent="0" marL="0">
              <a:buNone/>
            </a:pPr>
            <a:r>
              <a:rPr lang="en-US" sz="2000" b="1" dirty="0">
                <a:solidFill>
                  <a:schemeClr val="accent1"/>
                </a:solidFill>
              </a:rPr>
              <a:t>flowza.com</a:t>
            </a:r>
            <a:endParaRPr lang="en-US" sz="2000" dirty="0"/>
          </a:p>
        </p:txBody>
      </p:sp>
    </p:spTree>
  </p:cSld>
  <p:clrMapOvr>
    <a:masterClrMapping/>
  </p:clrMapOvr>
</p:sld>
</file>

<file path=ppt/theme/theme1.xml><?xml version="1.0" encoding="utf-8"?>
<a:theme xmlns:a="http://schemas.openxmlformats.org/drawingml/2006/main" name="FlowZa Green">
  <a:themeElements>
    <a:clrScheme name="FlowZa Green">
      <a:dk1>
        <a:srgbClr val="0B2D25"/>
      </a:dk1>
      <a:lt1>
        <a:srgbClr val="FFFFFF"/>
      </a:lt1>
      <a:dk2>
        <a:srgbClr val="0E2B25"/>
      </a:dk2>
      <a:lt2>
        <a:srgbClr val="EEFAF5"/>
      </a:lt2>
      <a:accent1>
        <a:srgbClr val="0F6E56"/>
      </a:accent1>
      <a:accent2>
        <a:srgbClr val="1F9873"/>
      </a:accent2>
      <a:accent3>
        <a:srgbClr val="5DD39E"/>
      </a:accent3>
      <a:accent4>
        <a:srgbClr val="F59E0B"/>
      </a:accent4>
      <a:accent5>
        <a:srgbClr val="3B82F6"/>
      </a:accent5>
      <a:accent6>
        <a:srgbClr val="EF4444"/>
      </a:accent6>
      <a:hlink>
        <a:srgbClr val="0F6E56"/>
      </a:hlink>
      <a:folHlink>
        <a:srgbClr val="137A5D"/>
      </a:folHlink>
    </a:clrScheme>
    <a:fontScheme name="FlowZa Gree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FlowZa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FlowZa Time Enterprise</dc:title>
  <dc:subject>Product overview</dc:subject>
  <dc:creator>FlowZa</dc:creator>
  <cp:lastModifiedBy>FlowZa</cp:lastModifiedBy>
  <cp:revision>1</cp:revision>
  <dcterms:created xsi:type="dcterms:W3CDTF">2026-10-11T13:44:56Z</dcterms:created>
  <dcterms:modified xsi:type="dcterms:W3CDTF">2026-10-11T13:44:56Z</dcterms:modified>
</cp:coreProperties>
</file>